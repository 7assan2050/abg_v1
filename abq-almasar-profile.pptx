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716395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E14"/>
        </a:solidFill>
        <a:effectLst/>
      </p:bgPr>
    </p:bg>
    <p:spTree>
      <p:nvGrpSpPr>
        <p:cNvPr id="1" name=""/>
        <p:cNvGrpSpPr/>
        <p:nvPr/>
      </p:nvGrpSpPr>
      <p:grpSpPr>
        <a:xfrm>
          <a:off x="0" y="0"/>
          <a:ext cx="0" cy="0"/>
          <a:chOff x="0" y="0"/>
          <a:chExt cx="0" cy="0"/>
        </a:xfrm>
      </p:grpSpPr>
      <p:sp>
        <p:nvSpPr>
          <p:cNvPr id="2" name="Shape 0"/>
          <p:cNvSpPr/>
          <p:nvPr/>
        </p:nvSpPr>
        <p:spPr>
          <a:xfrm>
            <a:off x="10515600" y="640080"/>
            <a:ext cx="36576" cy="36576"/>
          </a:xfrm>
          <a:prstGeom prst="ellipse">
            <a:avLst/>
          </a:prstGeom>
          <a:solidFill>
            <a:srgbClr val="C9A84C">
              <a:alpha val="70000"/>
            </a:srgbClr>
          </a:solidFill>
          <a:ln/>
        </p:spPr>
        <p:txBody>
          <a:bodyPr/>
          <a:lstStyle/>
          <a:p>
            <a:endParaRPr lang="ar-SA"/>
          </a:p>
        </p:txBody>
      </p:sp>
      <p:sp>
        <p:nvSpPr>
          <p:cNvPr id="3" name="Shape 1"/>
          <p:cNvSpPr/>
          <p:nvPr/>
        </p:nvSpPr>
        <p:spPr>
          <a:xfrm>
            <a:off x="10680192" y="685800"/>
            <a:ext cx="36576" cy="36576"/>
          </a:xfrm>
          <a:prstGeom prst="ellipse">
            <a:avLst/>
          </a:prstGeom>
          <a:solidFill>
            <a:srgbClr val="C9A84C">
              <a:alpha val="58000"/>
            </a:srgbClr>
          </a:solidFill>
          <a:ln/>
        </p:spPr>
        <p:txBody>
          <a:bodyPr/>
          <a:lstStyle/>
          <a:p>
            <a:endParaRPr lang="ar-SA"/>
          </a:p>
        </p:txBody>
      </p:sp>
      <p:sp>
        <p:nvSpPr>
          <p:cNvPr id="4" name="Shape 2"/>
          <p:cNvSpPr/>
          <p:nvPr/>
        </p:nvSpPr>
        <p:spPr>
          <a:xfrm>
            <a:off x="10844784" y="731520"/>
            <a:ext cx="36576" cy="36576"/>
          </a:xfrm>
          <a:prstGeom prst="ellipse">
            <a:avLst/>
          </a:prstGeom>
          <a:solidFill>
            <a:srgbClr val="C9A84C">
              <a:alpha val="46000"/>
            </a:srgbClr>
          </a:solidFill>
          <a:ln/>
        </p:spPr>
        <p:txBody>
          <a:bodyPr/>
          <a:lstStyle/>
          <a:p>
            <a:endParaRPr lang="ar-SA"/>
          </a:p>
        </p:txBody>
      </p:sp>
      <p:sp>
        <p:nvSpPr>
          <p:cNvPr id="5" name="Shape 3"/>
          <p:cNvSpPr/>
          <p:nvPr/>
        </p:nvSpPr>
        <p:spPr>
          <a:xfrm>
            <a:off x="11009376" y="777240"/>
            <a:ext cx="36576" cy="36576"/>
          </a:xfrm>
          <a:prstGeom prst="ellipse">
            <a:avLst/>
          </a:prstGeom>
          <a:solidFill>
            <a:srgbClr val="C9A84C">
              <a:alpha val="34000"/>
            </a:srgbClr>
          </a:solidFill>
          <a:ln/>
        </p:spPr>
        <p:txBody>
          <a:bodyPr/>
          <a:lstStyle/>
          <a:p>
            <a:endParaRPr lang="ar-SA"/>
          </a:p>
        </p:txBody>
      </p:sp>
      <p:sp>
        <p:nvSpPr>
          <p:cNvPr id="6" name="Shape 4"/>
          <p:cNvSpPr/>
          <p:nvPr/>
        </p:nvSpPr>
        <p:spPr>
          <a:xfrm>
            <a:off x="11173968" y="822960"/>
            <a:ext cx="36576" cy="36576"/>
          </a:xfrm>
          <a:prstGeom prst="ellipse">
            <a:avLst/>
          </a:prstGeom>
          <a:solidFill>
            <a:srgbClr val="C9A84C">
              <a:alpha val="22000"/>
            </a:srgbClr>
          </a:solidFill>
          <a:ln/>
        </p:spPr>
        <p:txBody>
          <a:bodyPr/>
          <a:lstStyle/>
          <a:p>
            <a:endParaRPr lang="ar-SA"/>
          </a:p>
        </p:txBody>
      </p:sp>
      <p:sp>
        <p:nvSpPr>
          <p:cNvPr id="7" name="Shape 5"/>
          <p:cNvSpPr/>
          <p:nvPr/>
        </p:nvSpPr>
        <p:spPr>
          <a:xfrm>
            <a:off x="731520" y="5943600"/>
            <a:ext cx="36576" cy="36576"/>
          </a:xfrm>
          <a:prstGeom prst="ellipse">
            <a:avLst/>
          </a:prstGeom>
          <a:solidFill>
            <a:srgbClr val="C9A84C">
              <a:alpha val="70000"/>
            </a:srgbClr>
          </a:solidFill>
          <a:ln/>
        </p:spPr>
        <p:txBody>
          <a:bodyPr/>
          <a:lstStyle/>
          <a:p>
            <a:endParaRPr lang="ar-SA"/>
          </a:p>
        </p:txBody>
      </p:sp>
      <p:sp>
        <p:nvSpPr>
          <p:cNvPr id="8" name="Shape 6"/>
          <p:cNvSpPr/>
          <p:nvPr/>
        </p:nvSpPr>
        <p:spPr>
          <a:xfrm>
            <a:off x="896112" y="5897880"/>
            <a:ext cx="36576" cy="36576"/>
          </a:xfrm>
          <a:prstGeom prst="ellipse">
            <a:avLst/>
          </a:prstGeom>
          <a:solidFill>
            <a:srgbClr val="C9A84C">
              <a:alpha val="58000"/>
            </a:srgbClr>
          </a:solidFill>
          <a:ln/>
        </p:spPr>
        <p:txBody>
          <a:bodyPr/>
          <a:lstStyle/>
          <a:p>
            <a:endParaRPr lang="ar-SA"/>
          </a:p>
        </p:txBody>
      </p:sp>
      <p:sp>
        <p:nvSpPr>
          <p:cNvPr id="9" name="Shape 7"/>
          <p:cNvSpPr/>
          <p:nvPr/>
        </p:nvSpPr>
        <p:spPr>
          <a:xfrm>
            <a:off x="1060704" y="5852160"/>
            <a:ext cx="36576" cy="36576"/>
          </a:xfrm>
          <a:prstGeom prst="ellipse">
            <a:avLst/>
          </a:prstGeom>
          <a:solidFill>
            <a:srgbClr val="C9A84C">
              <a:alpha val="46000"/>
            </a:srgbClr>
          </a:solidFill>
          <a:ln/>
        </p:spPr>
        <p:txBody>
          <a:bodyPr/>
          <a:lstStyle/>
          <a:p>
            <a:endParaRPr lang="ar-SA"/>
          </a:p>
        </p:txBody>
      </p:sp>
      <p:sp>
        <p:nvSpPr>
          <p:cNvPr id="10" name="Shape 8"/>
          <p:cNvSpPr/>
          <p:nvPr/>
        </p:nvSpPr>
        <p:spPr>
          <a:xfrm>
            <a:off x="1225296" y="5806440"/>
            <a:ext cx="36576" cy="36576"/>
          </a:xfrm>
          <a:prstGeom prst="ellipse">
            <a:avLst/>
          </a:prstGeom>
          <a:solidFill>
            <a:srgbClr val="C9A84C">
              <a:alpha val="34000"/>
            </a:srgbClr>
          </a:solidFill>
          <a:ln/>
        </p:spPr>
        <p:txBody>
          <a:bodyPr/>
          <a:lstStyle/>
          <a:p>
            <a:endParaRPr lang="ar-SA"/>
          </a:p>
        </p:txBody>
      </p:sp>
      <p:sp>
        <p:nvSpPr>
          <p:cNvPr id="11" name="Shape 9"/>
          <p:cNvSpPr/>
          <p:nvPr/>
        </p:nvSpPr>
        <p:spPr>
          <a:xfrm>
            <a:off x="1389888" y="5760720"/>
            <a:ext cx="36576" cy="36576"/>
          </a:xfrm>
          <a:prstGeom prst="ellipse">
            <a:avLst/>
          </a:prstGeom>
          <a:solidFill>
            <a:srgbClr val="C9A84C">
              <a:alpha val="22000"/>
            </a:srgbClr>
          </a:solidFill>
          <a:ln/>
        </p:spPr>
        <p:txBody>
          <a:bodyPr/>
          <a:lstStyle/>
          <a:p>
            <a:endParaRPr lang="ar-SA"/>
          </a:p>
        </p:txBody>
      </p:sp>
      <p:sp>
        <p:nvSpPr>
          <p:cNvPr id="12" name="Shape 10"/>
          <p:cNvSpPr/>
          <p:nvPr/>
        </p:nvSpPr>
        <p:spPr>
          <a:xfrm>
            <a:off x="640080" y="502920"/>
            <a:ext cx="10911535" cy="0"/>
          </a:xfrm>
          <a:prstGeom prst="line">
            <a:avLst/>
          </a:prstGeom>
          <a:noFill/>
          <a:ln w="6350">
            <a:solidFill>
              <a:srgbClr val="C9A84C"/>
            </a:solidFill>
            <a:prstDash val="solid"/>
          </a:ln>
        </p:spPr>
        <p:txBody>
          <a:bodyPr/>
          <a:lstStyle/>
          <a:p>
            <a:endParaRPr lang="ar-SA"/>
          </a:p>
        </p:txBody>
      </p:sp>
      <p:sp>
        <p:nvSpPr>
          <p:cNvPr id="13" name="Shape 11"/>
          <p:cNvSpPr/>
          <p:nvPr/>
        </p:nvSpPr>
        <p:spPr>
          <a:xfrm>
            <a:off x="640080" y="6355080"/>
            <a:ext cx="10911535" cy="0"/>
          </a:xfrm>
          <a:prstGeom prst="line">
            <a:avLst/>
          </a:prstGeom>
          <a:noFill/>
          <a:ln w="6350">
            <a:solidFill>
              <a:srgbClr val="C9A84C"/>
            </a:solidFill>
            <a:prstDash val="solid"/>
          </a:ln>
        </p:spPr>
        <p:txBody>
          <a:bodyPr/>
          <a:lstStyle/>
          <a:p>
            <a:endParaRPr lang="ar-SA"/>
          </a:p>
        </p:txBody>
      </p:sp>
      <p:sp>
        <p:nvSpPr>
          <p:cNvPr id="14" name="Text 12"/>
          <p:cNvSpPr/>
          <p:nvPr/>
        </p:nvSpPr>
        <p:spPr>
          <a:xfrm>
            <a:off x="0" y="1188720"/>
            <a:ext cx="12191695" cy="320040"/>
          </a:xfrm>
          <a:prstGeom prst="rect">
            <a:avLst/>
          </a:prstGeom>
          <a:noFill/>
          <a:ln/>
        </p:spPr>
        <p:txBody>
          <a:bodyPr wrap="square" rtlCol="0" anchor="ctr"/>
          <a:lstStyle/>
          <a:p>
            <a:pPr marL="0" indent="0" algn="ctr">
              <a:buNone/>
            </a:pPr>
            <a:r>
              <a:rPr lang="en-US" sz="1100" i="1" kern="0" spc="1000" dirty="0">
                <a:solidFill>
                  <a:srgbClr val="C9A84C"/>
                </a:solidFill>
                <a:latin typeface="Georgia" pitchFamily="34" charset="0"/>
                <a:ea typeface="Georgia" pitchFamily="34" charset="-122"/>
                <a:cs typeface="Georgia" pitchFamily="34" charset="-120"/>
              </a:rPr>
              <a:t>COMPANY PROFILE  ·  2026</a:t>
            </a:r>
            <a:endParaRPr lang="en-US" sz="1100" dirty="0"/>
          </a:p>
        </p:txBody>
      </p:sp>
      <p:pic>
        <p:nvPicPr>
          <p:cNvPr id="15" name="Image 0" descr="/home/claude/profile/logo_transparent.png"/>
          <p:cNvPicPr>
            <a:picLocks noChangeAspect="1"/>
          </p:cNvPicPr>
          <p:nvPr/>
        </p:nvPicPr>
        <p:blipFill>
          <a:blip r:embed="rId3"/>
          <a:stretch>
            <a:fillRect/>
          </a:stretch>
        </p:blipFill>
        <p:spPr>
          <a:xfrm>
            <a:off x="4175608" y="1828800"/>
            <a:ext cx="3840480" cy="2715768"/>
          </a:xfrm>
          <a:prstGeom prst="rect">
            <a:avLst/>
          </a:prstGeom>
        </p:spPr>
      </p:pic>
      <p:sp>
        <p:nvSpPr>
          <p:cNvPr id="16" name="Text 13"/>
          <p:cNvSpPr/>
          <p:nvPr/>
        </p:nvSpPr>
        <p:spPr>
          <a:xfrm>
            <a:off x="0" y="4754880"/>
            <a:ext cx="12191695" cy="548640"/>
          </a:xfrm>
          <a:prstGeom prst="rect">
            <a:avLst/>
          </a:prstGeom>
          <a:noFill/>
          <a:ln/>
        </p:spPr>
        <p:txBody>
          <a:bodyPr wrap="square" rtlCol="0" anchor="ctr"/>
          <a:lstStyle/>
          <a:p>
            <a:pPr marL="0" indent="0" algn="ctr" rtl="1">
              <a:buNone/>
            </a:pPr>
            <a:r>
              <a:rPr lang="en-US" sz="2400" i="1" dirty="0">
                <a:solidFill>
                  <a:srgbClr val="F4EAD0"/>
                </a:solidFill>
                <a:latin typeface="Sakkal Majalla" pitchFamily="34" charset="0"/>
                <a:ea typeface="Sakkal Majalla" pitchFamily="34" charset="-122"/>
                <a:cs typeface="Sakkal Majalla" pitchFamily="34" charset="-120"/>
              </a:rPr>
              <a:t>نَصْنَعُ الشُّعورَ </a:t>
            </a:r>
            <a:r>
              <a:rPr lang="en-US" sz="2400" i="1" dirty="0" err="1">
                <a:solidFill>
                  <a:srgbClr val="F4EAD0"/>
                </a:solidFill>
                <a:latin typeface="Sakkal Majalla" pitchFamily="34" charset="0"/>
                <a:ea typeface="Sakkal Majalla" pitchFamily="34" charset="-122"/>
                <a:cs typeface="Sakkal Majalla" pitchFamily="34" charset="-120"/>
              </a:rPr>
              <a:t>الذي</a:t>
            </a:r>
            <a:r>
              <a:rPr lang="en-US" sz="2400" i="1" dirty="0">
                <a:solidFill>
                  <a:srgbClr val="F4EAD0"/>
                </a:solidFill>
                <a:latin typeface="Sakkal Majalla" pitchFamily="34" charset="0"/>
                <a:ea typeface="Sakkal Majalla" pitchFamily="34" charset="-122"/>
                <a:cs typeface="Sakkal Majalla" pitchFamily="34" charset="-120"/>
              </a:rPr>
              <a:t> </a:t>
            </a:r>
            <a:r>
              <a:rPr lang="en-US" sz="2400" i="1" dirty="0" err="1">
                <a:solidFill>
                  <a:srgbClr val="F4EAD0"/>
                </a:solidFill>
                <a:latin typeface="Sakkal Majalla" pitchFamily="34" charset="0"/>
                <a:ea typeface="Sakkal Majalla" pitchFamily="34" charset="-122"/>
                <a:cs typeface="Sakkal Majalla" pitchFamily="34" charset="-120"/>
              </a:rPr>
              <a:t>يَبْقَى</a:t>
            </a:r>
            <a:endParaRPr lang="en-US" sz="2400" dirty="0"/>
          </a:p>
        </p:txBody>
      </p:sp>
      <p:sp>
        <p:nvSpPr>
          <p:cNvPr id="17" name="Text 14"/>
          <p:cNvSpPr/>
          <p:nvPr/>
        </p:nvSpPr>
        <p:spPr>
          <a:xfrm>
            <a:off x="0" y="5394960"/>
            <a:ext cx="12191695" cy="274320"/>
          </a:xfrm>
          <a:prstGeom prst="rect">
            <a:avLst/>
          </a:prstGeom>
          <a:noFill/>
          <a:ln/>
        </p:spPr>
        <p:txBody>
          <a:bodyPr wrap="square" rtlCol="0" anchor="ctr"/>
          <a:lstStyle/>
          <a:p>
            <a:pPr marL="0" indent="0" algn="ctr">
              <a:buNone/>
            </a:pPr>
            <a:r>
              <a:rPr lang="en-US" sz="1400" dirty="0">
                <a:solidFill>
                  <a:srgbClr val="C9A84C"/>
                </a:solidFill>
                <a:latin typeface="Georgia" pitchFamily="34" charset="0"/>
                <a:ea typeface="Georgia" pitchFamily="34" charset="-122"/>
                <a:cs typeface="Georgia" pitchFamily="34" charset="-120"/>
              </a:rPr>
              <a:t>◦  ◦  ◦</a:t>
            </a:r>
            <a:endParaRPr lang="en-US" sz="1400" dirty="0"/>
          </a:p>
        </p:txBody>
      </p:sp>
      <p:sp>
        <p:nvSpPr>
          <p:cNvPr id="18" name="Text 15"/>
          <p:cNvSpPr/>
          <p:nvPr/>
        </p:nvSpPr>
        <p:spPr>
          <a:xfrm>
            <a:off x="0" y="5715000"/>
            <a:ext cx="12191695" cy="274320"/>
          </a:xfrm>
          <a:prstGeom prst="rect">
            <a:avLst/>
          </a:prstGeom>
          <a:noFill/>
          <a:ln/>
        </p:spPr>
        <p:txBody>
          <a:bodyPr wrap="square" rtlCol="0" anchor="ctr"/>
          <a:lstStyle/>
          <a:p>
            <a:pPr marL="0" indent="0" algn="ctr">
              <a:buNone/>
            </a:pPr>
            <a:r>
              <a:rPr lang="en-US" sz="1000" i="1" kern="0" spc="800" dirty="0">
                <a:solidFill>
                  <a:srgbClr val="C9A84C"/>
                </a:solidFill>
                <a:latin typeface="Georgia" pitchFamily="34" charset="0"/>
                <a:ea typeface="Georgia" pitchFamily="34" charset="-122"/>
                <a:cs typeface="Georgia" pitchFamily="34" charset="-120"/>
              </a:rPr>
              <a:t>THE FEELING THAT LINGERS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 y="1463040"/>
            <a:ext cx="10972800" cy="274320"/>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FOREWORD</a:t>
            </a:r>
            <a:endParaRPr lang="en-US" sz="1000" dirty="0"/>
          </a:p>
        </p:txBody>
      </p:sp>
      <p:sp>
        <p:nvSpPr>
          <p:cNvPr id="10" name="Text 8"/>
          <p:cNvSpPr/>
          <p:nvPr/>
        </p:nvSpPr>
        <p:spPr>
          <a:xfrm>
            <a:off x="548640" y="1783080"/>
            <a:ext cx="10972800" cy="868680"/>
          </a:xfrm>
          <a:prstGeom prst="rect">
            <a:avLst/>
          </a:prstGeom>
          <a:noFill/>
          <a:ln/>
        </p:spPr>
        <p:txBody>
          <a:bodyPr wrap="square" rtlCol="0" anchor="ctr"/>
          <a:lstStyle/>
          <a:p>
            <a:pPr marL="0" indent="0" algn="r" rtl="1">
              <a:buNone/>
            </a:pPr>
            <a:r>
              <a:rPr lang="en-US" sz="4400" b="1" dirty="0">
                <a:solidFill>
                  <a:srgbClr val="8E7126"/>
                </a:solidFill>
                <a:latin typeface="Sakkal Majalla" pitchFamily="34" charset="0"/>
                <a:ea typeface="Sakkal Majalla" pitchFamily="34" charset="-122"/>
                <a:cs typeface="Sakkal Majalla" pitchFamily="34" charset="-120"/>
              </a:rPr>
              <a:t>جوهرنا</a:t>
            </a:r>
            <a:endParaRPr lang="en-US" sz="4400" dirty="0"/>
          </a:p>
        </p:txBody>
      </p:sp>
      <p:sp>
        <p:nvSpPr>
          <p:cNvPr id="11" name="Shape 9"/>
          <p:cNvSpPr/>
          <p:nvPr/>
        </p:nvSpPr>
        <p:spPr>
          <a:xfrm>
            <a:off x="11002975" y="269748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1371600" y="3017520"/>
            <a:ext cx="9418320" cy="640080"/>
          </a:xfrm>
          <a:prstGeom prst="rect">
            <a:avLst/>
          </a:prstGeom>
          <a:noFill/>
          <a:ln/>
        </p:spPr>
        <p:txBody>
          <a:bodyPr wrap="square" rtlCol="0" anchor="ctr"/>
          <a:lstStyle/>
          <a:p>
            <a:pPr marL="0" indent="0" algn="r" rtl="1">
              <a:buNone/>
            </a:pPr>
            <a:r>
              <a:rPr lang="en-US" sz="3200" dirty="0">
                <a:solidFill>
                  <a:srgbClr val="4A3F1F"/>
                </a:solidFill>
                <a:latin typeface="Sakkal Majalla" pitchFamily="34" charset="0"/>
                <a:ea typeface="Sakkal Majalla" pitchFamily="34" charset="-122"/>
                <a:cs typeface="Sakkal Majalla" pitchFamily="34" charset="-120"/>
              </a:rPr>
              <a:t>العميلُ لا يَتَذَكّرُ ما قُلْتَه،</a:t>
            </a:r>
            <a:endParaRPr lang="en-US" sz="3200" dirty="0"/>
          </a:p>
        </p:txBody>
      </p:sp>
      <p:sp>
        <p:nvSpPr>
          <p:cNvPr id="13" name="Text 11"/>
          <p:cNvSpPr/>
          <p:nvPr/>
        </p:nvSpPr>
        <p:spPr>
          <a:xfrm>
            <a:off x="1371600" y="3657600"/>
            <a:ext cx="9418320" cy="640080"/>
          </a:xfrm>
          <a:prstGeom prst="rect">
            <a:avLst/>
          </a:prstGeom>
          <a:noFill/>
          <a:ln/>
        </p:spPr>
        <p:txBody>
          <a:bodyPr wrap="square" rtlCol="0" anchor="ctr"/>
          <a:lstStyle/>
          <a:p>
            <a:pPr marL="0" indent="0" algn="r" rtl="1">
              <a:buNone/>
            </a:pPr>
            <a:r>
              <a:rPr lang="en-US" sz="3200" b="1" dirty="0">
                <a:solidFill>
                  <a:srgbClr val="8E7126"/>
                </a:solidFill>
                <a:latin typeface="Sakkal Majalla" pitchFamily="34" charset="0"/>
                <a:ea typeface="Sakkal Majalla" pitchFamily="34" charset="-122"/>
                <a:cs typeface="Sakkal Majalla" pitchFamily="34" charset="-120"/>
              </a:rPr>
              <a:t>وإنّما يَتَذَكّرُ الشُّعورَ الذي تَرَكْتَه فيه.</a:t>
            </a:r>
            <a:endParaRPr lang="en-US" sz="3200" dirty="0"/>
          </a:p>
        </p:txBody>
      </p:sp>
      <p:sp>
        <p:nvSpPr>
          <p:cNvPr id="14" name="Shape 12"/>
          <p:cNvSpPr/>
          <p:nvPr/>
        </p:nvSpPr>
        <p:spPr>
          <a:xfrm>
            <a:off x="8686800" y="4572000"/>
            <a:ext cx="2103120" cy="0"/>
          </a:xfrm>
          <a:prstGeom prst="line">
            <a:avLst/>
          </a:prstGeom>
          <a:noFill/>
          <a:ln w="7620">
            <a:solidFill>
              <a:srgbClr val="C9A84C"/>
            </a:solidFill>
            <a:prstDash val="solid"/>
          </a:ln>
        </p:spPr>
        <p:txBody>
          <a:bodyPr/>
          <a:lstStyle/>
          <a:p>
            <a:endParaRPr lang="ar-SA"/>
          </a:p>
        </p:txBody>
      </p:sp>
      <p:sp>
        <p:nvSpPr>
          <p:cNvPr id="15" name="Text 13"/>
          <p:cNvSpPr/>
          <p:nvPr/>
        </p:nvSpPr>
        <p:spPr>
          <a:xfrm>
            <a:off x="1371600" y="4754880"/>
            <a:ext cx="9418320" cy="1371600"/>
          </a:xfrm>
          <a:prstGeom prst="rect">
            <a:avLst/>
          </a:prstGeom>
          <a:noFill/>
          <a:ln/>
        </p:spPr>
        <p:txBody>
          <a:bodyPr wrap="square" rtlCol="0" anchor="ctr"/>
          <a:lstStyle/>
          <a:p>
            <a:pPr marL="0" indent="0" algn="r" rtl="1">
              <a:lnSpc>
                <a:spcPct val="150000"/>
              </a:lnSpc>
              <a:buNone/>
            </a:pPr>
            <a:r>
              <a:rPr lang="en-US" sz="1600" dirty="0">
                <a:solidFill>
                  <a:srgbClr val="4A3F1F"/>
                </a:solidFill>
                <a:latin typeface="Sakkal Majalla" pitchFamily="34" charset="0"/>
                <a:ea typeface="Sakkal Majalla" pitchFamily="34" charset="-122"/>
                <a:cs typeface="Sakkal Majalla" pitchFamily="34" charset="-120"/>
              </a:rPr>
              <a:t>في عبق المسار، نُؤمنُ بأنّ كلَّ مكالمةٍ هي فرصةٌ نادرةٌ لِصُنعِ انطباعٍ يَدومُ. لا نُعامِلُ التواصلَ معَ العميلِ كَرَقمٍ في كَشفِ الحساب، بل كَلِقاءٍ إنسانيٍّ يَستَحِقُّ أن يُتْرَكَ لهُ أثرٌ جَميل. حينَ يَنتَهي الاتّصال، تَبْقى منهُ رائحةُ الاحترامِ، وَدِفءُ التَّفاعُل، وَإحساسُ العَميلِ بأنَّهُ أُصْغِيَ إليهِ حقّاً.</a:t>
            </a:r>
            <a:endParaRPr lang="en-US" sz="1600" dirty="0"/>
          </a:p>
        </p:txBody>
      </p:sp>
      <p:sp>
        <p:nvSpPr>
          <p:cNvPr id="16" name="Shape 14"/>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17" name="Text 15"/>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18" name="Text 16"/>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02  /  12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0" y="640080"/>
            <a:ext cx="6126480" cy="292608"/>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ABOUT US</a:t>
            </a:r>
            <a:endParaRPr lang="en-US" sz="1000" dirty="0"/>
          </a:p>
        </p:txBody>
      </p:sp>
      <p:sp>
        <p:nvSpPr>
          <p:cNvPr id="10" name="Text 8"/>
          <p:cNvSpPr/>
          <p:nvPr/>
        </p:nvSpPr>
        <p:spPr>
          <a:xfrm>
            <a:off x="5486400" y="960120"/>
            <a:ext cx="6126480" cy="868680"/>
          </a:xfrm>
          <a:prstGeom prst="rect">
            <a:avLst/>
          </a:prstGeom>
          <a:noFill/>
          <a:ln/>
        </p:spPr>
        <p:txBody>
          <a:bodyPr wrap="square" rtlCol="0" anchor="t"/>
          <a:lstStyle/>
          <a:p>
            <a:pPr marL="0" indent="0" algn="r" rtl="1">
              <a:buNone/>
            </a:pPr>
            <a:r>
              <a:rPr lang="en-US" sz="4000" b="1" dirty="0">
                <a:solidFill>
                  <a:srgbClr val="8E7126"/>
                </a:solidFill>
                <a:latin typeface="Sakkal Majalla" pitchFamily="34" charset="0"/>
                <a:ea typeface="Sakkal Majalla" pitchFamily="34" charset="-122"/>
                <a:cs typeface="Sakkal Majalla" pitchFamily="34" charset="-120"/>
              </a:rPr>
              <a:t>مَن نحن</a:t>
            </a:r>
            <a:endParaRPr lang="en-US" sz="4000" dirty="0"/>
          </a:p>
        </p:txBody>
      </p:sp>
      <p:sp>
        <p:nvSpPr>
          <p:cNvPr id="11" name="Shape 9"/>
          <p:cNvSpPr/>
          <p:nvPr/>
        </p:nvSpPr>
        <p:spPr>
          <a:xfrm>
            <a:off x="11002975" y="182880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548640" y="2103120"/>
            <a:ext cx="11064240" cy="1188720"/>
          </a:xfrm>
          <a:prstGeom prst="rect">
            <a:avLst/>
          </a:prstGeom>
          <a:noFill/>
          <a:ln/>
        </p:spPr>
        <p:txBody>
          <a:bodyPr wrap="square" rtlCol="0" anchor="ctr"/>
          <a:lstStyle/>
          <a:p>
            <a:pPr marL="0" indent="0" algn="r" rtl="1">
              <a:lnSpc>
                <a:spcPct val="150000"/>
              </a:lnSpc>
              <a:buNone/>
            </a:pPr>
            <a:r>
              <a:rPr lang="en-US" sz="1600" dirty="0">
                <a:solidFill>
                  <a:srgbClr val="4A3F1F"/>
                </a:solidFill>
                <a:latin typeface="Sakkal Majalla" pitchFamily="34" charset="0"/>
                <a:ea typeface="Sakkal Majalla" pitchFamily="34" charset="-122"/>
                <a:cs typeface="Sakkal Majalla" pitchFamily="34" charset="-120"/>
              </a:rPr>
              <a:t>عبق المسار شركةٌ سعوديةٌ متخصّصةٌ في حلولِ التسويقِ عَبرَ الهاتفِ ومراكزِ الاتّصال. نَجمعُ بينَ خِبرةِ الفَريقِ البَشريِّ الكَفء وَتَقنياتِ الاتّصالِ الحديثة، لِنُقَدِّمَ لِشُركائِنا تَجرِبةً تَسويقيةً تَقودُ إلى نَتائجَ ملموسَةٍ وَتُبْقي أَثَراً طَيِّباً في وِجدانِ كلِّ عميل.</a:t>
            </a:r>
            <a:endParaRPr lang="en-US" sz="1600" dirty="0"/>
          </a:p>
        </p:txBody>
      </p:sp>
      <p:sp>
        <p:nvSpPr>
          <p:cNvPr id="13" name="Shape 11"/>
          <p:cNvSpPr/>
          <p:nvPr/>
        </p:nvSpPr>
        <p:spPr>
          <a:xfrm>
            <a:off x="6263640" y="3657600"/>
            <a:ext cx="5349240" cy="2286000"/>
          </a:xfrm>
          <a:prstGeom prst="rect">
            <a:avLst/>
          </a:prstGeom>
          <a:solidFill>
            <a:srgbClr val="F8F1DD"/>
          </a:solidFill>
          <a:ln/>
        </p:spPr>
        <p:txBody>
          <a:bodyPr/>
          <a:lstStyle/>
          <a:p>
            <a:endParaRPr lang="ar-SA"/>
          </a:p>
        </p:txBody>
      </p:sp>
      <p:sp>
        <p:nvSpPr>
          <p:cNvPr id="14" name="Shape 12"/>
          <p:cNvSpPr/>
          <p:nvPr/>
        </p:nvSpPr>
        <p:spPr>
          <a:xfrm>
            <a:off x="6263640" y="3657600"/>
            <a:ext cx="5349240" cy="54864"/>
          </a:xfrm>
          <a:prstGeom prst="rect">
            <a:avLst/>
          </a:prstGeom>
          <a:solidFill>
            <a:srgbClr val="C9A84C"/>
          </a:solidFill>
          <a:ln/>
        </p:spPr>
        <p:txBody>
          <a:bodyPr/>
          <a:lstStyle/>
          <a:p>
            <a:endParaRPr lang="ar-SA"/>
          </a:p>
        </p:txBody>
      </p:sp>
      <p:sp>
        <p:nvSpPr>
          <p:cNvPr id="15" name="Text 13"/>
          <p:cNvSpPr/>
          <p:nvPr/>
        </p:nvSpPr>
        <p:spPr>
          <a:xfrm>
            <a:off x="6492240" y="3931920"/>
            <a:ext cx="4892040" cy="274320"/>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VISION</a:t>
            </a:r>
            <a:endParaRPr lang="en-US" sz="1000" dirty="0"/>
          </a:p>
        </p:txBody>
      </p:sp>
      <p:sp>
        <p:nvSpPr>
          <p:cNvPr id="16" name="Text 14"/>
          <p:cNvSpPr/>
          <p:nvPr/>
        </p:nvSpPr>
        <p:spPr>
          <a:xfrm>
            <a:off x="6492240" y="4160520"/>
            <a:ext cx="4892040" cy="548640"/>
          </a:xfrm>
          <a:prstGeom prst="rect">
            <a:avLst/>
          </a:prstGeom>
          <a:noFill/>
          <a:ln/>
        </p:spPr>
        <p:txBody>
          <a:bodyPr wrap="square" rtlCol="0" anchor="ctr"/>
          <a:lstStyle/>
          <a:p>
            <a:pPr marL="0" indent="0" algn="r" rtl="1">
              <a:buNone/>
            </a:pPr>
            <a:r>
              <a:rPr lang="en-US" sz="2600" b="1" dirty="0">
                <a:solidFill>
                  <a:srgbClr val="8E7126"/>
                </a:solidFill>
                <a:latin typeface="Sakkal Majalla" pitchFamily="34" charset="0"/>
                <a:ea typeface="Sakkal Majalla" pitchFamily="34" charset="-122"/>
                <a:cs typeface="Sakkal Majalla" pitchFamily="34" charset="-120"/>
              </a:rPr>
              <a:t>رُؤيَتُنا</a:t>
            </a:r>
            <a:endParaRPr lang="en-US" sz="2600" dirty="0"/>
          </a:p>
        </p:txBody>
      </p:sp>
      <p:sp>
        <p:nvSpPr>
          <p:cNvPr id="17" name="Text 15"/>
          <p:cNvSpPr/>
          <p:nvPr/>
        </p:nvSpPr>
        <p:spPr>
          <a:xfrm>
            <a:off x="6492240" y="4754880"/>
            <a:ext cx="4892040" cy="1097280"/>
          </a:xfrm>
          <a:prstGeom prst="rect">
            <a:avLst/>
          </a:prstGeom>
          <a:noFill/>
          <a:ln/>
        </p:spPr>
        <p:txBody>
          <a:bodyPr wrap="square" rtlCol="0" anchor="ctr"/>
          <a:lstStyle/>
          <a:p>
            <a:pPr marL="0" indent="0" algn="r" rtl="1">
              <a:lnSpc>
                <a:spcPct val="150000"/>
              </a:lnSpc>
              <a:buNone/>
            </a:pPr>
            <a:r>
              <a:rPr lang="en-US" sz="1400" dirty="0">
                <a:solidFill>
                  <a:srgbClr val="4A3F1F"/>
                </a:solidFill>
                <a:latin typeface="Sakkal Majalla" pitchFamily="34" charset="0"/>
                <a:ea typeface="Sakkal Majalla" pitchFamily="34" charset="-122"/>
                <a:cs typeface="Sakkal Majalla" pitchFamily="34" charset="-120"/>
              </a:rPr>
              <a:t>أن نكون الشَّريكَ الأوّلَ الذي يَختارُهُ العملاءُ لِبناءِ علاقاتٍ صادقةٍ مع جُمهورِهم، عَبرَ صَوتٍ يَترُكُ أَثَراً ويُنتِجُ نَتيجَة.</a:t>
            </a:r>
            <a:endParaRPr lang="en-US" sz="1400" dirty="0"/>
          </a:p>
        </p:txBody>
      </p:sp>
      <p:sp>
        <p:nvSpPr>
          <p:cNvPr id="18" name="Shape 16"/>
          <p:cNvSpPr/>
          <p:nvPr/>
        </p:nvSpPr>
        <p:spPr>
          <a:xfrm>
            <a:off x="548640" y="3657600"/>
            <a:ext cx="5349240" cy="2286000"/>
          </a:xfrm>
          <a:prstGeom prst="rect">
            <a:avLst/>
          </a:prstGeom>
          <a:solidFill>
            <a:srgbClr val="F8F1DD"/>
          </a:solidFill>
          <a:ln/>
        </p:spPr>
        <p:txBody>
          <a:bodyPr/>
          <a:lstStyle/>
          <a:p>
            <a:endParaRPr lang="ar-SA"/>
          </a:p>
        </p:txBody>
      </p:sp>
      <p:sp>
        <p:nvSpPr>
          <p:cNvPr id="19" name="Shape 17"/>
          <p:cNvSpPr/>
          <p:nvPr/>
        </p:nvSpPr>
        <p:spPr>
          <a:xfrm>
            <a:off x="548640" y="3657600"/>
            <a:ext cx="5349240" cy="54864"/>
          </a:xfrm>
          <a:prstGeom prst="rect">
            <a:avLst/>
          </a:prstGeom>
          <a:solidFill>
            <a:srgbClr val="C9A84C"/>
          </a:solidFill>
          <a:ln/>
        </p:spPr>
        <p:txBody>
          <a:bodyPr/>
          <a:lstStyle/>
          <a:p>
            <a:endParaRPr lang="ar-SA"/>
          </a:p>
        </p:txBody>
      </p:sp>
      <p:sp>
        <p:nvSpPr>
          <p:cNvPr id="20" name="Text 18"/>
          <p:cNvSpPr/>
          <p:nvPr/>
        </p:nvSpPr>
        <p:spPr>
          <a:xfrm>
            <a:off x="777240" y="3931920"/>
            <a:ext cx="4892040" cy="274320"/>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MISSION</a:t>
            </a:r>
            <a:endParaRPr lang="en-US" sz="1000" dirty="0"/>
          </a:p>
        </p:txBody>
      </p:sp>
      <p:sp>
        <p:nvSpPr>
          <p:cNvPr id="21" name="Text 19"/>
          <p:cNvSpPr/>
          <p:nvPr/>
        </p:nvSpPr>
        <p:spPr>
          <a:xfrm>
            <a:off x="777240" y="4160520"/>
            <a:ext cx="4892040" cy="548640"/>
          </a:xfrm>
          <a:prstGeom prst="rect">
            <a:avLst/>
          </a:prstGeom>
          <a:noFill/>
          <a:ln/>
        </p:spPr>
        <p:txBody>
          <a:bodyPr wrap="square" rtlCol="0" anchor="ctr"/>
          <a:lstStyle/>
          <a:p>
            <a:pPr marL="0" indent="0" algn="r" rtl="1">
              <a:buNone/>
            </a:pPr>
            <a:r>
              <a:rPr lang="en-US" sz="2600" b="1" dirty="0">
                <a:solidFill>
                  <a:srgbClr val="8E7126"/>
                </a:solidFill>
                <a:latin typeface="Sakkal Majalla" pitchFamily="34" charset="0"/>
                <a:ea typeface="Sakkal Majalla" pitchFamily="34" charset="-122"/>
                <a:cs typeface="Sakkal Majalla" pitchFamily="34" charset="-120"/>
              </a:rPr>
              <a:t>رِسالَتُنا</a:t>
            </a:r>
            <a:endParaRPr lang="en-US" sz="2600" dirty="0"/>
          </a:p>
        </p:txBody>
      </p:sp>
      <p:sp>
        <p:nvSpPr>
          <p:cNvPr id="22" name="Text 20"/>
          <p:cNvSpPr/>
          <p:nvPr/>
        </p:nvSpPr>
        <p:spPr>
          <a:xfrm>
            <a:off x="777240" y="4754880"/>
            <a:ext cx="4892040" cy="1097280"/>
          </a:xfrm>
          <a:prstGeom prst="rect">
            <a:avLst/>
          </a:prstGeom>
          <a:noFill/>
          <a:ln/>
        </p:spPr>
        <p:txBody>
          <a:bodyPr wrap="square" rtlCol="0" anchor="ctr"/>
          <a:lstStyle/>
          <a:p>
            <a:pPr marL="0" indent="0" algn="r" rtl="1">
              <a:lnSpc>
                <a:spcPct val="150000"/>
              </a:lnSpc>
              <a:buNone/>
            </a:pPr>
            <a:r>
              <a:rPr lang="en-US" sz="1400" dirty="0">
                <a:solidFill>
                  <a:srgbClr val="4A3F1F"/>
                </a:solidFill>
                <a:latin typeface="Sakkal Majalla" pitchFamily="34" charset="0"/>
                <a:ea typeface="Sakkal Majalla" pitchFamily="34" charset="-122"/>
                <a:cs typeface="Sakkal Majalla" pitchFamily="34" charset="-120"/>
              </a:rPr>
              <a:t>أن نَرفعَ مستوى التواصلِ الصَّوتيِّ في السُّوقِ السعوديِّ بِفَريقٍ مُدَرَّبٍ، وَتَقنيَّةٍ موثوقَةٍ، وَأخلاقياتٍ راسِخَة؛ لِنُحَوِّلَ كلَّ مكالمةٍ إلى ذِكرى جَميلَة.</a:t>
            </a:r>
            <a:endParaRPr lang="en-US" sz="1400" dirty="0"/>
          </a:p>
        </p:txBody>
      </p:sp>
      <p:sp>
        <p:nvSpPr>
          <p:cNvPr id="23" name="Shape 21"/>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24" name="Text 22"/>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25" name="Text 23"/>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03  /  12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0" y="640080"/>
            <a:ext cx="6126480" cy="292608"/>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OUR STRENGTHS</a:t>
            </a:r>
            <a:endParaRPr lang="en-US" sz="1000" dirty="0"/>
          </a:p>
        </p:txBody>
      </p:sp>
      <p:sp>
        <p:nvSpPr>
          <p:cNvPr id="10" name="Text 8"/>
          <p:cNvSpPr/>
          <p:nvPr/>
        </p:nvSpPr>
        <p:spPr>
          <a:xfrm>
            <a:off x="5486400" y="960120"/>
            <a:ext cx="6126480" cy="868680"/>
          </a:xfrm>
          <a:prstGeom prst="rect">
            <a:avLst/>
          </a:prstGeom>
          <a:noFill/>
          <a:ln/>
        </p:spPr>
        <p:txBody>
          <a:bodyPr wrap="square" rtlCol="0" anchor="t"/>
          <a:lstStyle/>
          <a:p>
            <a:pPr marL="0" indent="0" algn="r" rtl="1">
              <a:buNone/>
            </a:pPr>
            <a:r>
              <a:rPr lang="en-US" sz="4000" b="1" dirty="0">
                <a:solidFill>
                  <a:srgbClr val="8E7126"/>
                </a:solidFill>
                <a:latin typeface="Sakkal Majalla" pitchFamily="34" charset="0"/>
                <a:ea typeface="Sakkal Majalla" pitchFamily="34" charset="-122"/>
                <a:cs typeface="Sakkal Majalla" pitchFamily="34" charset="-120"/>
              </a:rPr>
              <a:t>ما يُمَيِّزُنا</a:t>
            </a:r>
            <a:endParaRPr lang="en-US" sz="4000" dirty="0"/>
          </a:p>
        </p:txBody>
      </p:sp>
      <p:sp>
        <p:nvSpPr>
          <p:cNvPr id="11" name="Shape 9"/>
          <p:cNvSpPr/>
          <p:nvPr/>
        </p:nvSpPr>
        <p:spPr>
          <a:xfrm>
            <a:off x="11002975" y="182880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10607040" y="2194560"/>
            <a:ext cx="1005840" cy="868680"/>
          </a:xfrm>
          <a:prstGeom prst="rect">
            <a:avLst/>
          </a:prstGeom>
          <a:noFill/>
          <a:ln/>
        </p:spPr>
        <p:txBody>
          <a:bodyPr wrap="square" rtlCol="0" anchor="ctr"/>
          <a:lstStyle/>
          <a:p>
            <a:pPr marL="0" indent="0" algn="ctr">
              <a:buNone/>
            </a:pPr>
            <a:r>
              <a:rPr lang="en-US" sz="3600" i="1" dirty="0">
                <a:solidFill>
                  <a:srgbClr val="C9A84C"/>
                </a:solidFill>
                <a:latin typeface="Georgia" pitchFamily="34" charset="0"/>
                <a:ea typeface="Georgia" pitchFamily="34" charset="-122"/>
                <a:cs typeface="Georgia" pitchFamily="34" charset="-120"/>
              </a:rPr>
              <a:t>01</a:t>
            </a:r>
            <a:endParaRPr lang="en-US" sz="3600" dirty="0"/>
          </a:p>
        </p:txBody>
      </p:sp>
      <p:sp>
        <p:nvSpPr>
          <p:cNvPr id="13" name="Shape 11"/>
          <p:cNvSpPr/>
          <p:nvPr/>
        </p:nvSpPr>
        <p:spPr>
          <a:xfrm>
            <a:off x="10515600" y="2377440"/>
            <a:ext cx="0" cy="594360"/>
          </a:xfrm>
          <a:prstGeom prst="line">
            <a:avLst/>
          </a:prstGeom>
          <a:noFill/>
          <a:ln w="6350">
            <a:solidFill>
              <a:srgbClr val="C9A84C"/>
            </a:solidFill>
            <a:prstDash val="solid"/>
          </a:ln>
        </p:spPr>
        <p:txBody>
          <a:bodyPr/>
          <a:lstStyle/>
          <a:p>
            <a:endParaRPr lang="ar-SA"/>
          </a:p>
        </p:txBody>
      </p:sp>
      <p:sp>
        <p:nvSpPr>
          <p:cNvPr id="14" name="Text 12"/>
          <p:cNvSpPr/>
          <p:nvPr/>
        </p:nvSpPr>
        <p:spPr>
          <a:xfrm>
            <a:off x="914400" y="2258568"/>
            <a:ext cx="9509760" cy="41148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فَريقٌ مُدَرَّبٌ بِعِنايَة</a:t>
            </a:r>
            <a:endParaRPr lang="en-US" sz="2200" dirty="0"/>
          </a:p>
        </p:txBody>
      </p:sp>
      <p:sp>
        <p:nvSpPr>
          <p:cNvPr id="15" name="Text 13"/>
          <p:cNvSpPr/>
          <p:nvPr/>
        </p:nvSpPr>
        <p:spPr>
          <a:xfrm>
            <a:off x="914400" y="2697480"/>
            <a:ext cx="9509760" cy="411480"/>
          </a:xfrm>
          <a:prstGeom prst="rect">
            <a:avLst/>
          </a:prstGeom>
          <a:noFill/>
          <a:ln/>
        </p:spPr>
        <p:txBody>
          <a:bodyPr wrap="square" rtlCol="0" anchor="ctr"/>
          <a:lstStyle/>
          <a:p>
            <a:pPr marL="0" indent="0" algn="r" rtl="1">
              <a:buNone/>
            </a:pPr>
            <a:r>
              <a:rPr lang="en-US" sz="1300" dirty="0">
                <a:solidFill>
                  <a:srgbClr val="6B5A2E"/>
                </a:solidFill>
                <a:latin typeface="Sakkal Majalla" pitchFamily="34" charset="0"/>
                <a:ea typeface="Sakkal Majalla" pitchFamily="34" charset="-122"/>
                <a:cs typeface="Sakkal Majalla" pitchFamily="34" charset="-120"/>
              </a:rPr>
              <a:t>كَوادِرُ سعوديةٌ مُختارَةٌ بِدِقَّة، تَخضَعُ لِبَرامِجَ تَدريبيَّةٍ في فَنِّ الاتّصال وَلُغَةِ الإقناع.</a:t>
            </a:r>
            <a:endParaRPr lang="en-US" sz="1300" dirty="0"/>
          </a:p>
        </p:txBody>
      </p:sp>
      <p:sp>
        <p:nvSpPr>
          <p:cNvPr id="16" name="Shape 14"/>
          <p:cNvSpPr/>
          <p:nvPr/>
        </p:nvSpPr>
        <p:spPr>
          <a:xfrm>
            <a:off x="914400" y="3163824"/>
            <a:ext cx="9601200" cy="0"/>
          </a:xfrm>
          <a:prstGeom prst="line">
            <a:avLst/>
          </a:prstGeom>
          <a:noFill/>
          <a:ln w="6350">
            <a:solidFill>
              <a:srgbClr val="E8DCBB"/>
            </a:solidFill>
            <a:prstDash val="solid"/>
          </a:ln>
        </p:spPr>
        <p:txBody>
          <a:bodyPr/>
          <a:lstStyle/>
          <a:p>
            <a:endParaRPr lang="ar-SA"/>
          </a:p>
        </p:txBody>
      </p:sp>
      <p:sp>
        <p:nvSpPr>
          <p:cNvPr id="17" name="Text 15"/>
          <p:cNvSpPr/>
          <p:nvPr/>
        </p:nvSpPr>
        <p:spPr>
          <a:xfrm>
            <a:off x="10607040" y="3154680"/>
            <a:ext cx="1005840" cy="868680"/>
          </a:xfrm>
          <a:prstGeom prst="rect">
            <a:avLst/>
          </a:prstGeom>
          <a:noFill/>
          <a:ln/>
        </p:spPr>
        <p:txBody>
          <a:bodyPr wrap="square" rtlCol="0" anchor="ctr"/>
          <a:lstStyle/>
          <a:p>
            <a:pPr marL="0" indent="0" algn="ctr">
              <a:buNone/>
            </a:pPr>
            <a:r>
              <a:rPr lang="en-US" sz="3600" i="1" dirty="0">
                <a:solidFill>
                  <a:srgbClr val="C9A84C"/>
                </a:solidFill>
                <a:latin typeface="Georgia" pitchFamily="34" charset="0"/>
                <a:ea typeface="Georgia" pitchFamily="34" charset="-122"/>
                <a:cs typeface="Georgia" pitchFamily="34" charset="-120"/>
              </a:rPr>
              <a:t>02</a:t>
            </a:r>
            <a:endParaRPr lang="en-US" sz="3600" dirty="0"/>
          </a:p>
        </p:txBody>
      </p:sp>
      <p:sp>
        <p:nvSpPr>
          <p:cNvPr id="18" name="Shape 16"/>
          <p:cNvSpPr/>
          <p:nvPr/>
        </p:nvSpPr>
        <p:spPr>
          <a:xfrm>
            <a:off x="10515600" y="3337560"/>
            <a:ext cx="0" cy="594360"/>
          </a:xfrm>
          <a:prstGeom prst="line">
            <a:avLst/>
          </a:prstGeom>
          <a:noFill/>
          <a:ln w="6350">
            <a:solidFill>
              <a:srgbClr val="C9A84C"/>
            </a:solidFill>
            <a:prstDash val="solid"/>
          </a:ln>
        </p:spPr>
        <p:txBody>
          <a:bodyPr/>
          <a:lstStyle/>
          <a:p>
            <a:endParaRPr lang="ar-SA"/>
          </a:p>
        </p:txBody>
      </p:sp>
      <p:sp>
        <p:nvSpPr>
          <p:cNvPr id="19" name="Text 17"/>
          <p:cNvSpPr/>
          <p:nvPr/>
        </p:nvSpPr>
        <p:spPr>
          <a:xfrm>
            <a:off x="914400" y="3218688"/>
            <a:ext cx="9509760" cy="41148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خِبرَةٌ في السُّوقِ المَحَلِّيِّ</a:t>
            </a:r>
            <a:endParaRPr lang="en-US" sz="2200" dirty="0"/>
          </a:p>
        </p:txBody>
      </p:sp>
      <p:sp>
        <p:nvSpPr>
          <p:cNvPr id="20" name="Text 18"/>
          <p:cNvSpPr/>
          <p:nvPr/>
        </p:nvSpPr>
        <p:spPr>
          <a:xfrm>
            <a:off x="914400" y="3657600"/>
            <a:ext cx="9509760" cy="411480"/>
          </a:xfrm>
          <a:prstGeom prst="rect">
            <a:avLst/>
          </a:prstGeom>
          <a:noFill/>
          <a:ln/>
        </p:spPr>
        <p:txBody>
          <a:bodyPr wrap="square" rtlCol="0" anchor="ctr"/>
          <a:lstStyle/>
          <a:p>
            <a:pPr marL="0" indent="0" algn="r" rtl="1">
              <a:buNone/>
            </a:pPr>
            <a:r>
              <a:rPr lang="en-US" sz="1300" dirty="0">
                <a:solidFill>
                  <a:srgbClr val="6B5A2E"/>
                </a:solidFill>
                <a:latin typeface="Sakkal Majalla" pitchFamily="34" charset="0"/>
                <a:ea typeface="Sakkal Majalla" pitchFamily="34" charset="-122"/>
                <a:cs typeface="Sakkal Majalla" pitchFamily="34" charset="-120"/>
              </a:rPr>
              <a:t>نَفهَمُ ثَقافَةَ العَميلِ السعوديِّ، وَنُخاطِبُهُ بِما يُلامِسُ تَوَقُّعاتِه وَيَحتَرِمُ خُصوصيَّتَه.</a:t>
            </a:r>
            <a:endParaRPr lang="en-US" sz="1300" dirty="0"/>
          </a:p>
        </p:txBody>
      </p:sp>
      <p:sp>
        <p:nvSpPr>
          <p:cNvPr id="21" name="Shape 19"/>
          <p:cNvSpPr/>
          <p:nvPr/>
        </p:nvSpPr>
        <p:spPr>
          <a:xfrm>
            <a:off x="914400" y="4123944"/>
            <a:ext cx="9601200" cy="0"/>
          </a:xfrm>
          <a:prstGeom prst="line">
            <a:avLst/>
          </a:prstGeom>
          <a:noFill/>
          <a:ln w="6350">
            <a:solidFill>
              <a:srgbClr val="E8DCBB"/>
            </a:solidFill>
            <a:prstDash val="solid"/>
          </a:ln>
        </p:spPr>
        <p:txBody>
          <a:bodyPr/>
          <a:lstStyle/>
          <a:p>
            <a:endParaRPr lang="ar-SA"/>
          </a:p>
        </p:txBody>
      </p:sp>
      <p:sp>
        <p:nvSpPr>
          <p:cNvPr id="22" name="Text 20"/>
          <p:cNvSpPr/>
          <p:nvPr/>
        </p:nvSpPr>
        <p:spPr>
          <a:xfrm>
            <a:off x="10607040" y="4114800"/>
            <a:ext cx="1005840" cy="868680"/>
          </a:xfrm>
          <a:prstGeom prst="rect">
            <a:avLst/>
          </a:prstGeom>
          <a:noFill/>
          <a:ln/>
        </p:spPr>
        <p:txBody>
          <a:bodyPr wrap="square" rtlCol="0" anchor="ctr"/>
          <a:lstStyle/>
          <a:p>
            <a:pPr marL="0" indent="0" algn="ctr">
              <a:buNone/>
            </a:pPr>
            <a:r>
              <a:rPr lang="en-US" sz="3600" i="1" dirty="0">
                <a:solidFill>
                  <a:srgbClr val="C9A84C"/>
                </a:solidFill>
                <a:latin typeface="Georgia" pitchFamily="34" charset="0"/>
                <a:ea typeface="Georgia" pitchFamily="34" charset="-122"/>
                <a:cs typeface="Georgia" pitchFamily="34" charset="-120"/>
              </a:rPr>
              <a:t>03</a:t>
            </a:r>
            <a:endParaRPr lang="en-US" sz="3600" dirty="0"/>
          </a:p>
        </p:txBody>
      </p:sp>
      <p:sp>
        <p:nvSpPr>
          <p:cNvPr id="23" name="Shape 21"/>
          <p:cNvSpPr/>
          <p:nvPr/>
        </p:nvSpPr>
        <p:spPr>
          <a:xfrm>
            <a:off x="10515600" y="4297680"/>
            <a:ext cx="0" cy="594360"/>
          </a:xfrm>
          <a:prstGeom prst="line">
            <a:avLst/>
          </a:prstGeom>
          <a:noFill/>
          <a:ln w="6350">
            <a:solidFill>
              <a:srgbClr val="C9A84C"/>
            </a:solidFill>
            <a:prstDash val="solid"/>
          </a:ln>
        </p:spPr>
        <p:txBody>
          <a:bodyPr/>
          <a:lstStyle/>
          <a:p>
            <a:endParaRPr lang="ar-SA"/>
          </a:p>
        </p:txBody>
      </p:sp>
      <p:sp>
        <p:nvSpPr>
          <p:cNvPr id="24" name="Text 22"/>
          <p:cNvSpPr/>
          <p:nvPr/>
        </p:nvSpPr>
        <p:spPr>
          <a:xfrm>
            <a:off x="914400" y="4178808"/>
            <a:ext cx="9509760" cy="41148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تَقنيَةٌ مَوثوقَة</a:t>
            </a:r>
            <a:endParaRPr lang="en-US" sz="2200" dirty="0"/>
          </a:p>
        </p:txBody>
      </p:sp>
      <p:sp>
        <p:nvSpPr>
          <p:cNvPr id="25" name="Text 23"/>
          <p:cNvSpPr/>
          <p:nvPr/>
        </p:nvSpPr>
        <p:spPr>
          <a:xfrm>
            <a:off x="914400" y="4617720"/>
            <a:ext cx="9509760" cy="411480"/>
          </a:xfrm>
          <a:prstGeom prst="rect">
            <a:avLst/>
          </a:prstGeom>
          <a:noFill/>
          <a:ln/>
        </p:spPr>
        <p:txBody>
          <a:bodyPr wrap="square" rtlCol="0" anchor="ctr"/>
          <a:lstStyle/>
          <a:p>
            <a:pPr marL="0" indent="0" algn="r" rtl="1">
              <a:buNone/>
            </a:pPr>
            <a:r>
              <a:rPr lang="en-US" sz="1300" dirty="0">
                <a:solidFill>
                  <a:srgbClr val="6B5A2E"/>
                </a:solidFill>
                <a:latin typeface="Sakkal Majalla" pitchFamily="34" charset="0"/>
                <a:ea typeface="Sakkal Majalla" pitchFamily="34" charset="-122"/>
                <a:cs typeface="Sakkal Majalla" pitchFamily="34" charset="-120"/>
              </a:rPr>
              <a:t>مَنصّاتُ اتّصالٍ حَديثَة، تَسجيلٌ وَتَقاريرُ لَحظيَّة، وَتَكامُلٌ سَلِسٌ مع أنظمَةِ إدارَةِ العُملاء.</a:t>
            </a:r>
            <a:endParaRPr lang="en-US" sz="1300" dirty="0"/>
          </a:p>
        </p:txBody>
      </p:sp>
      <p:sp>
        <p:nvSpPr>
          <p:cNvPr id="26" name="Shape 24"/>
          <p:cNvSpPr/>
          <p:nvPr/>
        </p:nvSpPr>
        <p:spPr>
          <a:xfrm>
            <a:off x="914400" y="5084064"/>
            <a:ext cx="9601200" cy="0"/>
          </a:xfrm>
          <a:prstGeom prst="line">
            <a:avLst/>
          </a:prstGeom>
          <a:noFill/>
          <a:ln w="6350">
            <a:solidFill>
              <a:srgbClr val="E8DCBB"/>
            </a:solidFill>
            <a:prstDash val="solid"/>
          </a:ln>
        </p:spPr>
        <p:txBody>
          <a:bodyPr/>
          <a:lstStyle/>
          <a:p>
            <a:endParaRPr lang="ar-SA"/>
          </a:p>
        </p:txBody>
      </p:sp>
      <p:sp>
        <p:nvSpPr>
          <p:cNvPr id="27" name="Text 25"/>
          <p:cNvSpPr/>
          <p:nvPr/>
        </p:nvSpPr>
        <p:spPr>
          <a:xfrm>
            <a:off x="10607040" y="5074920"/>
            <a:ext cx="1005840" cy="868680"/>
          </a:xfrm>
          <a:prstGeom prst="rect">
            <a:avLst/>
          </a:prstGeom>
          <a:noFill/>
          <a:ln/>
        </p:spPr>
        <p:txBody>
          <a:bodyPr wrap="square" rtlCol="0" anchor="ctr"/>
          <a:lstStyle/>
          <a:p>
            <a:pPr marL="0" indent="0" algn="ctr">
              <a:buNone/>
            </a:pPr>
            <a:r>
              <a:rPr lang="en-US" sz="3600" i="1" dirty="0">
                <a:solidFill>
                  <a:srgbClr val="C9A84C"/>
                </a:solidFill>
                <a:latin typeface="Georgia" pitchFamily="34" charset="0"/>
                <a:ea typeface="Georgia" pitchFamily="34" charset="-122"/>
                <a:cs typeface="Georgia" pitchFamily="34" charset="-120"/>
              </a:rPr>
              <a:t>04</a:t>
            </a:r>
            <a:endParaRPr lang="en-US" sz="3600" dirty="0"/>
          </a:p>
        </p:txBody>
      </p:sp>
      <p:sp>
        <p:nvSpPr>
          <p:cNvPr id="28" name="Shape 26"/>
          <p:cNvSpPr/>
          <p:nvPr/>
        </p:nvSpPr>
        <p:spPr>
          <a:xfrm>
            <a:off x="10515600" y="5257800"/>
            <a:ext cx="0" cy="594360"/>
          </a:xfrm>
          <a:prstGeom prst="line">
            <a:avLst/>
          </a:prstGeom>
          <a:noFill/>
          <a:ln w="6350">
            <a:solidFill>
              <a:srgbClr val="C9A84C"/>
            </a:solidFill>
            <a:prstDash val="solid"/>
          </a:ln>
        </p:spPr>
        <p:txBody>
          <a:bodyPr/>
          <a:lstStyle/>
          <a:p>
            <a:endParaRPr lang="ar-SA"/>
          </a:p>
        </p:txBody>
      </p:sp>
      <p:sp>
        <p:nvSpPr>
          <p:cNvPr id="29" name="Text 27"/>
          <p:cNvSpPr/>
          <p:nvPr/>
        </p:nvSpPr>
        <p:spPr>
          <a:xfrm>
            <a:off x="914400" y="5138928"/>
            <a:ext cx="9509760" cy="41148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جَودَةٌ قَبلَ كلِّ شَيء</a:t>
            </a:r>
            <a:endParaRPr lang="en-US" sz="2200" dirty="0"/>
          </a:p>
        </p:txBody>
      </p:sp>
      <p:sp>
        <p:nvSpPr>
          <p:cNvPr id="30" name="Text 28"/>
          <p:cNvSpPr/>
          <p:nvPr/>
        </p:nvSpPr>
        <p:spPr>
          <a:xfrm>
            <a:off x="914400" y="5577840"/>
            <a:ext cx="9509760" cy="411480"/>
          </a:xfrm>
          <a:prstGeom prst="rect">
            <a:avLst/>
          </a:prstGeom>
          <a:noFill/>
          <a:ln/>
        </p:spPr>
        <p:txBody>
          <a:bodyPr wrap="square" rtlCol="0" anchor="ctr"/>
          <a:lstStyle/>
          <a:p>
            <a:pPr marL="0" indent="0" algn="r" rtl="1">
              <a:buNone/>
            </a:pPr>
            <a:r>
              <a:rPr lang="en-US" sz="1300" dirty="0">
                <a:solidFill>
                  <a:srgbClr val="6B5A2E"/>
                </a:solidFill>
                <a:latin typeface="Sakkal Majalla" pitchFamily="34" charset="0"/>
                <a:ea typeface="Sakkal Majalla" pitchFamily="34" charset="-122"/>
                <a:cs typeface="Sakkal Majalla" pitchFamily="34" charset="-120"/>
              </a:rPr>
              <a:t>نِظامُ مُراقَبةٍ مُستَمِرٍّ لِكُلِّ مُكالَمَة، يَضمَنُ أنَّ الأَثَرَ المَتروكَ في كلِّ مَرَّةٍ هو أَثَرٌ نَفتَخِرُ به.</a:t>
            </a:r>
            <a:endParaRPr lang="en-US" sz="1300" dirty="0"/>
          </a:p>
        </p:txBody>
      </p:sp>
      <p:sp>
        <p:nvSpPr>
          <p:cNvPr id="31" name="Shape 29"/>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32" name="Text 30"/>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33" name="Text 31"/>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04  /  12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0" y="640080"/>
            <a:ext cx="6126480" cy="292608"/>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WHAT WE OFFER</a:t>
            </a:r>
            <a:endParaRPr lang="en-US" sz="1000" dirty="0"/>
          </a:p>
        </p:txBody>
      </p:sp>
      <p:sp>
        <p:nvSpPr>
          <p:cNvPr id="10" name="Text 8"/>
          <p:cNvSpPr/>
          <p:nvPr/>
        </p:nvSpPr>
        <p:spPr>
          <a:xfrm>
            <a:off x="5486400" y="960120"/>
            <a:ext cx="6126480" cy="868680"/>
          </a:xfrm>
          <a:prstGeom prst="rect">
            <a:avLst/>
          </a:prstGeom>
          <a:noFill/>
          <a:ln/>
        </p:spPr>
        <p:txBody>
          <a:bodyPr wrap="square" rtlCol="0" anchor="t"/>
          <a:lstStyle/>
          <a:p>
            <a:pPr marL="0" indent="0" algn="r" rtl="1">
              <a:buNone/>
            </a:pPr>
            <a:r>
              <a:rPr lang="en-US" sz="4000" b="1" dirty="0">
                <a:solidFill>
                  <a:srgbClr val="8E7126"/>
                </a:solidFill>
                <a:latin typeface="Sakkal Majalla" pitchFamily="34" charset="0"/>
                <a:ea typeface="Sakkal Majalla" pitchFamily="34" charset="-122"/>
                <a:cs typeface="Sakkal Majalla" pitchFamily="34" charset="-120"/>
              </a:rPr>
              <a:t>خَدَماتُنا</a:t>
            </a:r>
            <a:endParaRPr lang="en-US" sz="4000" dirty="0"/>
          </a:p>
        </p:txBody>
      </p:sp>
      <p:sp>
        <p:nvSpPr>
          <p:cNvPr id="11" name="Shape 9"/>
          <p:cNvSpPr/>
          <p:nvPr/>
        </p:nvSpPr>
        <p:spPr>
          <a:xfrm>
            <a:off x="11002975" y="182880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548640" y="2194560"/>
            <a:ext cx="11064240" cy="457200"/>
          </a:xfrm>
          <a:prstGeom prst="rect">
            <a:avLst/>
          </a:prstGeom>
          <a:noFill/>
          <a:ln/>
        </p:spPr>
        <p:txBody>
          <a:bodyPr wrap="square" rtlCol="0" anchor="ctr"/>
          <a:lstStyle/>
          <a:p>
            <a:pPr marL="0" indent="0" algn="r" rtl="1">
              <a:buNone/>
            </a:pPr>
            <a:r>
              <a:rPr lang="en-US" sz="1500" i="1" dirty="0">
                <a:solidFill>
                  <a:srgbClr val="6B5A2E"/>
                </a:solidFill>
                <a:latin typeface="Sakkal Majalla" pitchFamily="34" charset="0"/>
                <a:ea typeface="Sakkal Majalla" pitchFamily="34" charset="-122"/>
                <a:cs typeface="Sakkal Majalla" pitchFamily="34" charset="-120"/>
              </a:rPr>
              <a:t>حُلولٌ مُتكامِلَةٌ لِلتَّواصُلِ الهاتِفيِّ تَجمَعُ بَينَ الأَداءِ التَّقنيِّ وَالحِسِّ الإنسانيِّ.</a:t>
            </a:r>
            <a:endParaRPr lang="en-US" sz="1500" dirty="0"/>
          </a:p>
        </p:txBody>
      </p:sp>
      <p:sp>
        <p:nvSpPr>
          <p:cNvPr id="13" name="Shape 11"/>
          <p:cNvSpPr/>
          <p:nvPr/>
        </p:nvSpPr>
        <p:spPr>
          <a:xfrm>
            <a:off x="8174736" y="2880360"/>
            <a:ext cx="3703320" cy="1554480"/>
          </a:xfrm>
          <a:prstGeom prst="rect">
            <a:avLst/>
          </a:prstGeom>
          <a:solidFill>
            <a:srgbClr val="F8F1DD"/>
          </a:solidFill>
          <a:ln/>
        </p:spPr>
        <p:txBody>
          <a:bodyPr/>
          <a:lstStyle/>
          <a:p>
            <a:endParaRPr lang="ar-SA"/>
          </a:p>
        </p:txBody>
      </p:sp>
      <p:sp>
        <p:nvSpPr>
          <p:cNvPr id="14" name="Shape 12"/>
          <p:cNvSpPr/>
          <p:nvPr/>
        </p:nvSpPr>
        <p:spPr>
          <a:xfrm>
            <a:off x="11649456" y="3044952"/>
            <a:ext cx="109728" cy="0"/>
          </a:xfrm>
          <a:prstGeom prst="line">
            <a:avLst/>
          </a:prstGeom>
          <a:noFill/>
          <a:ln w="8890">
            <a:solidFill>
              <a:srgbClr val="C9A84C"/>
            </a:solidFill>
            <a:prstDash val="solid"/>
          </a:ln>
        </p:spPr>
        <p:txBody>
          <a:bodyPr/>
          <a:lstStyle/>
          <a:p>
            <a:endParaRPr lang="ar-SA"/>
          </a:p>
        </p:txBody>
      </p:sp>
      <p:sp>
        <p:nvSpPr>
          <p:cNvPr id="15" name="Shape 13"/>
          <p:cNvSpPr/>
          <p:nvPr/>
        </p:nvSpPr>
        <p:spPr>
          <a:xfrm>
            <a:off x="11759184" y="3044952"/>
            <a:ext cx="0" cy="109728"/>
          </a:xfrm>
          <a:prstGeom prst="line">
            <a:avLst/>
          </a:prstGeom>
          <a:noFill/>
          <a:ln w="8890">
            <a:solidFill>
              <a:srgbClr val="C9A84C"/>
            </a:solidFill>
            <a:prstDash val="solid"/>
          </a:ln>
        </p:spPr>
        <p:txBody>
          <a:bodyPr/>
          <a:lstStyle/>
          <a:p>
            <a:endParaRPr lang="ar-SA"/>
          </a:p>
        </p:txBody>
      </p:sp>
      <p:sp>
        <p:nvSpPr>
          <p:cNvPr id="16" name="Text 14"/>
          <p:cNvSpPr/>
          <p:nvPr/>
        </p:nvSpPr>
        <p:spPr>
          <a:xfrm>
            <a:off x="8449056" y="3063240"/>
            <a:ext cx="3154680" cy="228600"/>
          </a:xfrm>
          <a:prstGeom prst="rect">
            <a:avLst/>
          </a:prstGeom>
          <a:noFill/>
          <a:ln/>
        </p:spPr>
        <p:txBody>
          <a:bodyPr wrap="square" rtlCol="0" anchor="ctr"/>
          <a:lstStyle/>
          <a:p>
            <a:pPr marL="0" indent="0" algn="r">
              <a:buNone/>
            </a:pPr>
            <a:r>
              <a:rPr lang="en-US" sz="900" i="1" kern="0" spc="500" dirty="0">
                <a:solidFill>
                  <a:srgbClr val="8E7126"/>
                </a:solidFill>
                <a:latin typeface="Georgia" pitchFamily="34" charset="0"/>
                <a:ea typeface="Georgia" pitchFamily="34" charset="-122"/>
                <a:cs typeface="Georgia" pitchFamily="34" charset="-120"/>
              </a:rPr>
              <a:t>OUTBOUND</a:t>
            </a:r>
            <a:endParaRPr lang="en-US" sz="900" dirty="0"/>
          </a:p>
        </p:txBody>
      </p:sp>
      <p:sp>
        <p:nvSpPr>
          <p:cNvPr id="17" name="Text 15"/>
          <p:cNvSpPr/>
          <p:nvPr/>
        </p:nvSpPr>
        <p:spPr>
          <a:xfrm>
            <a:off x="8449056" y="3291840"/>
            <a:ext cx="3154680" cy="50292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التسويق الصادر</a:t>
            </a:r>
            <a:endParaRPr lang="en-US" sz="2200" dirty="0"/>
          </a:p>
        </p:txBody>
      </p:sp>
      <p:sp>
        <p:nvSpPr>
          <p:cNvPr id="18" name="Text 16"/>
          <p:cNvSpPr/>
          <p:nvPr/>
        </p:nvSpPr>
        <p:spPr>
          <a:xfrm>
            <a:off x="8449056" y="3840480"/>
            <a:ext cx="315468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حملاتُ مَبيعاتٍ وتَسويقٍ هاتِفيٍّ مُوَجَّهة.</a:t>
            </a:r>
            <a:endParaRPr lang="en-US" sz="1200" dirty="0"/>
          </a:p>
        </p:txBody>
      </p:sp>
      <p:sp>
        <p:nvSpPr>
          <p:cNvPr id="19" name="Shape 17"/>
          <p:cNvSpPr/>
          <p:nvPr/>
        </p:nvSpPr>
        <p:spPr>
          <a:xfrm>
            <a:off x="4361688" y="2880360"/>
            <a:ext cx="3703320" cy="1554480"/>
          </a:xfrm>
          <a:prstGeom prst="rect">
            <a:avLst/>
          </a:prstGeom>
          <a:solidFill>
            <a:srgbClr val="F8F1DD"/>
          </a:solidFill>
          <a:ln/>
        </p:spPr>
        <p:txBody>
          <a:bodyPr/>
          <a:lstStyle/>
          <a:p>
            <a:endParaRPr lang="ar-SA"/>
          </a:p>
        </p:txBody>
      </p:sp>
      <p:sp>
        <p:nvSpPr>
          <p:cNvPr id="20" name="Shape 18"/>
          <p:cNvSpPr/>
          <p:nvPr/>
        </p:nvSpPr>
        <p:spPr>
          <a:xfrm>
            <a:off x="7836408" y="3044952"/>
            <a:ext cx="109728" cy="0"/>
          </a:xfrm>
          <a:prstGeom prst="line">
            <a:avLst/>
          </a:prstGeom>
          <a:noFill/>
          <a:ln w="8890">
            <a:solidFill>
              <a:srgbClr val="C9A84C"/>
            </a:solidFill>
            <a:prstDash val="solid"/>
          </a:ln>
        </p:spPr>
        <p:txBody>
          <a:bodyPr/>
          <a:lstStyle/>
          <a:p>
            <a:endParaRPr lang="ar-SA"/>
          </a:p>
        </p:txBody>
      </p:sp>
      <p:sp>
        <p:nvSpPr>
          <p:cNvPr id="21" name="Shape 19"/>
          <p:cNvSpPr/>
          <p:nvPr/>
        </p:nvSpPr>
        <p:spPr>
          <a:xfrm>
            <a:off x="7946136" y="3044952"/>
            <a:ext cx="0" cy="109728"/>
          </a:xfrm>
          <a:prstGeom prst="line">
            <a:avLst/>
          </a:prstGeom>
          <a:noFill/>
          <a:ln w="8890">
            <a:solidFill>
              <a:srgbClr val="C9A84C"/>
            </a:solidFill>
            <a:prstDash val="solid"/>
          </a:ln>
        </p:spPr>
        <p:txBody>
          <a:bodyPr/>
          <a:lstStyle/>
          <a:p>
            <a:endParaRPr lang="ar-SA"/>
          </a:p>
        </p:txBody>
      </p:sp>
      <p:sp>
        <p:nvSpPr>
          <p:cNvPr id="22" name="Text 20"/>
          <p:cNvSpPr/>
          <p:nvPr/>
        </p:nvSpPr>
        <p:spPr>
          <a:xfrm>
            <a:off x="4636008" y="3063240"/>
            <a:ext cx="3154680" cy="228600"/>
          </a:xfrm>
          <a:prstGeom prst="rect">
            <a:avLst/>
          </a:prstGeom>
          <a:noFill/>
          <a:ln/>
        </p:spPr>
        <p:txBody>
          <a:bodyPr wrap="square" rtlCol="0" anchor="ctr"/>
          <a:lstStyle/>
          <a:p>
            <a:pPr marL="0" indent="0" algn="r">
              <a:buNone/>
            </a:pPr>
            <a:r>
              <a:rPr lang="en-US" sz="900" i="1" kern="0" spc="500" dirty="0">
                <a:solidFill>
                  <a:srgbClr val="8E7126"/>
                </a:solidFill>
                <a:latin typeface="Georgia" pitchFamily="34" charset="0"/>
                <a:ea typeface="Georgia" pitchFamily="34" charset="-122"/>
                <a:cs typeface="Georgia" pitchFamily="34" charset="-120"/>
              </a:rPr>
              <a:t>INBOUND</a:t>
            </a:r>
            <a:endParaRPr lang="en-US" sz="900" dirty="0"/>
          </a:p>
        </p:txBody>
      </p:sp>
      <p:sp>
        <p:nvSpPr>
          <p:cNvPr id="23" name="Text 21"/>
          <p:cNvSpPr/>
          <p:nvPr/>
        </p:nvSpPr>
        <p:spPr>
          <a:xfrm>
            <a:off x="4636008" y="3291840"/>
            <a:ext cx="3154680" cy="50292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الاستقبال والدعم</a:t>
            </a:r>
            <a:endParaRPr lang="en-US" sz="2200" dirty="0"/>
          </a:p>
        </p:txBody>
      </p:sp>
      <p:sp>
        <p:nvSpPr>
          <p:cNvPr id="24" name="Text 22"/>
          <p:cNvSpPr/>
          <p:nvPr/>
        </p:nvSpPr>
        <p:spPr>
          <a:xfrm>
            <a:off x="4636008" y="3840480"/>
            <a:ext cx="315468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خِدمَةُ عُملاءَ ومَركَزُ اتّصالٍ احترافيّ.</a:t>
            </a:r>
            <a:endParaRPr lang="en-US" sz="1200" dirty="0"/>
          </a:p>
        </p:txBody>
      </p:sp>
      <p:sp>
        <p:nvSpPr>
          <p:cNvPr id="25" name="Shape 23"/>
          <p:cNvSpPr/>
          <p:nvPr/>
        </p:nvSpPr>
        <p:spPr>
          <a:xfrm>
            <a:off x="548640" y="2880360"/>
            <a:ext cx="3703320" cy="1554480"/>
          </a:xfrm>
          <a:prstGeom prst="rect">
            <a:avLst/>
          </a:prstGeom>
          <a:solidFill>
            <a:srgbClr val="F8F1DD"/>
          </a:solidFill>
          <a:ln/>
        </p:spPr>
        <p:txBody>
          <a:bodyPr/>
          <a:lstStyle/>
          <a:p>
            <a:endParaRPr lang="ar-SA"/>
          </a:p>
        </p:txBody>
      </p:sp>
      <p:sp>
        <p:nvSpPr>
          <p:cNvPr id="26" name="Shape 24"/>
          <p:cNvSpPr/>
          <p:nvPr/>
        </p:nvSpPr>
        <p:spPr>
          <a:xfrm>
            <a:off x="4023360" y="3044952"/>
            <a:ext cx="109728" cy="0"/>
          </a:xfrm>
          <a:prstGeom prst="line">
            <a:avLst/>
          </a:prstGeom>
          <a:noFill/>
          <a:ln w="8890">
            <a:solidFill>
              <a:srgbClr val="C9A84C"/>
            </a:solidFill>
            <a:prstDash val="solid"/>
          </a:ln>
        </p:spPr>
        <p:txBody>
          <a:bodyPr/>
          <a:lstStyle/>
          <a:p>
            <a:endParaRPr lang="ar-SA"/>
          </a:p>
        </p:txBody>
      </p:sp>
      <p:sp>
        <p:nvSpPr>
          <p:cNvPr id="27" name="Shape 25"/>
          <p:cNvSpPr/>
          <p:nvPr/>
        </p:nvSpPr>
        <p:spPr>
          <a:xfrm>
            <a:off x="4133088" y="3044952"/>
            <a:ext cx="0" cy="109728"/>
          </a:xfrm>
          <a:prstGeom prst="line">
            <a:avLst/>
          </a:prstGeom>
          <a:noFill/>
          <a:ln w="8890">
            <a:solidFill>
              <a:srgbClr val="C9A84C"/>
            </a:solidFill>
            <a:prstDash val="solid"/>
          </a:ln>
        </p:spPr>
        <p:txBody>
          <a:bodyPr/>
          <a:lstStyle/>
          <a:p>
            <a:endParaRPr lang="ar-SA"/>
          </a:p>
        </p:txBody>
      </p:sp>
      <p:sp>
        <p:nvSpPr>
          <p:cNvPr id="28" name="Text 26"/>
          <p:cNvSpPr/>
          <p:nvPr/>
        </p:nvSpPr>
        <p:spPr>
          <a:xfrm>
            <a:off x="822960" y="3063240"/>
            <a:ext cx="3154680" cy="228600"/>
          </a:xfrm>
          <a:prstGeom prst="rect">
            <a:avLst/>
          </a:prstGeom>
          <a:noFill/>
          <a:ln/>
        </p:spPr>
        <p:txBody>
          <a:bodyPr wrap="square" rtlCol="0" anchor="ctr"/>
          <a:lstStyle/>
          <a:p>
            <a:pPr marL="0" indent="0" algn="r">
              <a:buNone/>
            </a:pPr>
            <a:r>
              <a:rPr lang="en-US" sz="900" i="1" kern="0" spc="500" dirty="0">
                <a:solidFill>
                  <a:srgbClr val="8E7126"/>
                </a:solidFill>
                <a:latin typeface="Georgia" pitchFamily="34" charset="0"/>
                <a:ea typeface="Georgia" pitchFamily="34" charset="-122"/>
                <a:cs typeface="Georgia" pitchFamily="34" charset="-120"/>
              </a:rPr>
              <a:t>LEADS</a:t>
            </a:r>
            <a:endParaRPr lang="en-US" sz="900" dirty="0"/>
          </a:p>
        </p:txBody>
      </p:sp>
      <p:sp>
        <p:nvSpPr>
          <p:cNvPr id="29" name="Text 27"/>
          <p:cNvSpPr/>
          <p:nvPr/>
        </p:nvSpPr>
        <p:spPr>
          <a:xfrm>
            <a:off x="822960" y="3291840"/>
            <a:ext cx="3154680" cy="50292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إدارَةُ العُملاءِ المُحتَمَلين</a:t>
            </a:r>
            <a:endParaRPr lang="en-US" sz="2200" dirty="0"/>
          </a:p>
        </p:txBody>
      </p:sp>
      <p:sp>
        <p:nvSpPr>
          <p:cNvPr id="30" name="Text 28"/>
          <p:cNvSpPr/>
          <p:nvPr/>
        </p:nvSpPr>
        <p:spPr>
          <a:xfrm>
            <a:off x="822960" y="3840480"/>
            <a:ext cx="315468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تَأهيلُ العُملاءِ وتَحويلُهم إلى صَفَقات.</a:t>
            </a:r>
            <a:endParaRPr lang="en-US" sz="1200" dirty="0"/>
          </a:p>
        </p:txBody>
      </p:sp>
      <p:sp>
        <p:nvSpPr>
          <p:cNvPr id="31" name="Shape 29"/>
          <p:cNvSpPr/>
          <p:nvPr/>
        </p:nvSpPr>
        <p:spPr>
          <a:xfrm>
            <a:off x="8174736" y="4599432"/>
            <a:ext cx="3703320" cy="1554480"/>
          </a:xfrm>
          <a:prstGeom prst="rect">
            <a:avLst/>
          </a:prstGeom>
          <a:solidFill>
            <a:srgbClr val="F8F1DD"/>
          </a:solidFill>
          <a:ln/>
        </p:spPr>
        <p:txBody>
          <a:bodyPr/>
          <a:lstStyle/>
          <a:p>
            <a:endParaRPr lang="ar-SA"/>
          </a:p>
        </p:txBody>
      </p:sp>
      <p:sp>
        <p:nvSpPr>
          <p:cNvPr id="32" name="Shape 30"/>
          <p:cNvSpPr/>
          <p:nvPr/>
        </p:nvSpPr>
        <p:spPr>
          <a:xfrm>
            <a:off x="11649456" y="4764024"/>
            <a:ext cx="109728" cy="0"/>
          </a:xfrm>
          <a:prstGeom prst="line">
            <a:avLst/>
          </a:prstGeom>
          <a:noFill/>
          <a:ln w="8890">
            <a:solidFill>
              <a:srgbClr val="C9A84C"/>
            </a:solidFill>
            <a:prstDash val="solid"/>
          </a:ln>
        </p:spPr>
        <p:txBody>
          <a:bodyPr/>
          <a:lstStyle/>
          <a:p>
            <a:endParaRPr lang="ar-SA"/>
          </a:p>
        </p:txBody>
      </p:sp>
      <p:sp>
        <p:nvSpPr>
          <p:cNvPr id="33" name="Shape 31"/>
          <p:cNvSpPr/>
          <p:nvPr/>
        </p:nvSpPr>
        <p:spPr>
          <a:xfrm>
            <a:off x="11759184" y="4764024"/>
            <a:ext cx="0" cy="109728"/>
          </a:xfrm>
          <a:prstGeom prst="line">
            <a:avLst/>
          </a:prstGeom>
          <a:noFill/>
          <a:ln w="8890">
            <a:solidFill>
              <a:srgbClr val="C9A84C"/>
            </a:solidFill>
            <a:prstDash val="solid"/>
          </a:ln>
        </p:spPr>
        <p:txBody>
          <a:bodyPr/>
          <a:lstStyle/>
          <a:p>
            <a:endParaRPr lang="ar-SA"/>
          </a:p>
        </p:txBody>
      </p:sp>
      <p:sp>
        <p:nvSpPr>
          <p:cNvPr id="34" name="Text 32"/>
          <p:cNvSpPr/>
          <p:nvPr/>
        </p:nvSpPr>
        <p:spPr>
          <a:xfrm>
            <a:off x="8449056" y="4782312"/>
            <a:ext cx="3154680" cy="228600"/>
          </a:xfrm>
          <a:prstGeom prst="rect">
            <a:avLst/>
          </a:prstGeom>
          <a:noFill/>
          <a:ln/>
        </p:spPr>
        <p:txBody>
          <a:bodyPr wrap="square" rtlCol="0" anchor="ctr"/>
          <a:lstStyle/>
          <a:p>
            <a:pPr marL="0" indent="0" algn="r">
              <a:buNone/>
            </a:pPr>
            <a:r>
              <a:rPr lang="en-US" sz="900" i="1" kern="0" spc="500" dirty="0">
                <a:solidFill>
                  <a:srgbClr val="8E7126"/>
                </a:solidFill>
                <a:latin typeface="Georgia" pitchFamily="34" charset="0"/>
                <a:ea typeface="Georgia" pitchFamily="34" charset="-122"/>
                <a:cs typeface="Georgia" pitchFamily="34" charset="-120"/>
              </a:rPr>
              <a:t>SURVEYS</a:t>
            </a:r>
            <a:endParaRPr lang="en-US" sz="900" dirty="0"/>
          </a:p>
        </p:txBody>
      </p:sp>
      <p:sp>
        <p:nvSpPr>
          <p:cNvPr id="35" name="Text 33"/>
          <p:cNvSpPr/>
          <p:nvPr/>
        </p:nvSpPr>
        <p:spPr>
          <a:xfrm>
            <a:off x="8449056" y="5010912"/>
            <a:ext cx="3154680" cy="50292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استِطلاعاتُ الرَّأي</a:t>
            </a:r>
            <a:endParaRPr lang="en-US" sz="2200" dirty="0"/>
          </a:p>
        </p:txBody>
      </p:sp>
      <p:sp>
        <p:nvSpPr>
          <p:cNvPr id="36" name="Text 34"/>
          <p:cNvSpPr/>
          <p:nvPr/>
        </p:nvSpPr>
        <p:spPr>
          <a:xfrm>
            <a:off x="8449056" y="5559552"/>
            <a:ext cx="315468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قياسُ رِضا العُملاء وَجَمعُ المُلاحَظات.</a:t>
            </a:r>
            <a:endParaRPr lang="en-US" sz="1200" dirty="0"/>
          </a:p>
        </p:txBody>
      </p:sp>
      <p:sp>
        <p:nvSpPr>
          <p:cNvPr id="37" name="Shape 35"/>
          <p:cNvSpPr/>
          <p:nvPr/>
        </p:nvSpPr>
        <p:spPr>
          <a:xfrm>
            <a:off x="4361688" y="4599432"/>
            <a:ext cx="3703320" cy="1554480"/>
          </a:xfrm>
          <a:prstGeom prst="rect">
            <a:avLst/>
          </a:prstGeom>
          <a:solidFill>
            <a:srgbClr val="F8F1DD"/>
          </a:solidFill>
          <a:ln/>
        </p:spPr>
        <p:txBody>
          <a:bodyPr/>
          <a:lstStyle/>
          <a:p>
            <a:endParaRPr lang="ar-SA"/>
          </a:p>
        </p:txBody>
      </p:sp>
      <p:sp>
        <p:nvSpPr>
          <p:cNvPr id="38" name="Shape 36"/>
          <p:cNvSpPr/>
          <p:nvPr/>
        </p:nvSpPr>
        <p:spPr>
          <a:xfrm>
            <a:off x="7836408" y="4764024"/>
            <a:ext cx="109728" cy="0"/>
          </a:xfrm>
          <a:prstGeom prst="line">
            <a:avLst/>
          </a:prstGeom>
          <a:noFill/>
          <a:ln w="8890">
            <a:solidFill>
              <a:srgbClr val="C9A84C"/>
            </a:solidFill>
            <a:prstDash val="solid"/>
          </a:ln>
        </p:spPr>
        <p:txBody>
          <a:bodyPr/>
          <a:lstStyle/>
          <a:p>
            <a:endParaRPr lang="ar-SA"/>
          </a:p>
        </p:txBody>
      </p:sp>
      <p:sp>
        <p:nvSpPr>
          <p:cNvPr id="39" name="Shape 37"/>
          <p:cNvSpPr/>
          <p:nvPr/>
        </p:nvSpPr>
        <p:spPr>
          <a:xfrm>
            <a:off x="7946136" y="4764024"/>
            <a:ext cx="0" cy="109728"/>
          </a:xfrm>
          <a:prstGeom prst="line">
            <a:avLst/>
          </a:prstGeom>
          <a:noFill/>
          <a:ln w="8890">
            <a:solidFill>
              <a:srgbClr val="C9A84C"/>
            </a:solidFill>
            <a:prstDash val="solid"/>
          </a:ln>
        </p:spPr>
        <p:txBody>
          <a:bodyPr/>
          <a:lstStyle/>
          <a:p>
            <a:endParaRPr lang="ar-SA"/>
          </a:p>
        </p:txBody>
      </p:sp>
      <p:sp>
        <p:nvSpPr>
          <p:cNvPr id="40" name="Text 38"/>
          <p:cNvSpPr/>
          <p:nvPr/>
        </p:nvSpPr>
        <p:spPr>
          <a:xfrm>
            <a:off x="4636008" y="4782312"/>
            <a:ext cx="3154680" cy="228600"/>
          </a:xfrm>
          <a:prstGeom prst="rect">
            <a:avLst/>
          </a:prstGeom>
          <a:noFill/>
          <a:ln/>
        </p:spPr>
        <p:txBody>
          <a:bodyPr wrap="square" rtlCol="0" anchor="ctr"/>
          <a:lstStyle/>
          <a:p>
            <a:pPr marL="0" indent="0" algn="r">
              <a:buNone/>
            </a:pPr>
            <a:r>
              <a:rPr lang="en-US" sz="900" i="1" kern="0" spc="500" dirty="0">
                <a:solidFill>
                  <a:srgbClr val="8E7126"/>
                </a:solidFill>
                <a:latin typeface="Georgia" pitchFamily="34" charset="0"/>
                <a:ea typeface="Georgia" pitchFamily="34" charset="-122"/>
                <a:cs typeface="Georgia" pitchFamily="34" charset="-120"/>
              </a:rPr>
              <a:t>CONFIRMATIONS</a:t>
            </a:r>
            <a:endParaRPr lang="en-US" sz="900" dirty="0"/>
          </a:p>
        </p:txBody>
      </p:sp>
      <p:sp>
        <p:nvSpPr>
          <p:cNvPr id="41" name="Text 39"/>
          <p:cNvSpPr/>
          <p:nvPr/>
        </p:nvSpPr>
        <p:spPr>
          <a:xfrm>
            <a:off x="4636008" y="5010912"/>
            <a:ext cx="3154680" cy="50292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تَأكيدُ الحُجوزات</a:t>
            </a:r>
            <a:endParaRPr lang="en-US" sz="2200" dirty="0"/>
          </a:p>
        </p:txBody>
      </p:sp>
      <p:sp>
        <p:nvSpPr>
          <p:cNvPr id="42" name="Text 40"/>
          <p:cNvSpPr/>
          <p:nvPr/>
        </p:nvSpPr>
        <p:spPr>
          <a:xfrm>
            <a:off x="4636008" y="5559552"/>
            <a:ext cx="315468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خِدماتُ تَأكيدٍ ومُتابَعةٍ ومَواعيد.</a:t>
            </a:r>
            <a:endParaRPr lang="en-US" sz="1200" dirty="0"/>
          </a:p>
        </p:txBody>
      </p:sp>
      <p:sp>
        <p:nvSpPr>
          <p:cNvPr id="43" name="Shape 41"/>
          <p:cNvSpPr/>
          <p:nvPr/>
        </p:nvSpPr>
        <p:spPr>
          <a:xfrm>
            <a:off x="548640" y="4599432"/>
            <a:ext cx="3703320" cy="1554480"/>
          </a:xfrm>
          <a:prstGeom prst="rect">
            <a:avLst/>
          </a:prstGeom>
          <a:solidFill>
            <a:srgbClr val="F8F1DD"/>
          </a:solidFill>
          <a:ln/>
        </p:spPr>
        <p:txBody>
          <a:bodyPr/>
          <a:lstStyle/>
          <a:p>
            <a:endParaRPr lang="ar-SA"/>
          </a:p>
        </p:txBody>
      </p:sp>
      <p:sp>
        <p:nvSpPr>
          <p:cNvPr id="44" name="Shape 42"/>
          <p:cNvSpPr/>
          <p:nvPr/>
        </p:nvSpPr>
        <p:spPr>
          <a:xfrm>
            <a:off x="4023360" y="4764024"/>
            <a:ext cx="109728" cy="0"/>
          </a:xfrm>
          <a:prstGeom prst="line">
            <a:avLst/>
          </a:prstGeom>
          <a:noFill/>
          <a:ln w="8890">
            <a:solidFill>
              <a:srgbClr val="C9A84C"/>
            </a:solidFill>
            <a:prstDash val="solid"/>
          </a:ln>
        </p:spPr>
        <p:txBody>
          <a:bodyPr/>
          <a:lstStyle/>
          <a:p>
            <a:endParaRPr lang="ar-SA"/>
          </a:p>
        </p:txBody>
      </p:sp>
      <p:sp>
        <p:nvSpPr>
          <p:cNvPr id="45" name="Shape 43"/>
          <p:cNvSpPr/>
          <p:nvPr/>
        </p:nvSpPr>
        <p:spPr>
          <a:xfrm>
            <a:off x="4133088" y="4764024"/>
            <a:ext cx="0" cy="109728"/>
          </a:xfrm>
          <a:prstGeom prst="line">
            <a:avLst/>
          </a:prstGeom>
          <a:noFill/>
          <a:ln w="8890">
            <a:solidFill>
              <a:srgbClr val="C9A84C"/>
            </a:solidFill>
            <a:prstDash val="solid"/>
          </a:ln>
        </p:spPr>
        <p:txBody>
          <a:bodyPr/>
          <a:lstStyle/>
          <a:p>
            <a:endParaRPr lang="ar-SA"/>
          </a:p>
        </p:txBody>
      </p:sp>
      <p:sp>
        <p:nvSpPr>
          <p:cNvPr id="46" name="Text 44"/>
          <p:cNvSpPr/>
          <p:nvPr/>
        </p:nvSpPr>
        <p:spPr>
          <a:xfrm>
            <a:off x="822960" y="4782312"/>
            <a:ext cx="3154680" cy="228600"/>
          </a:xfrm>
          <a:prstGeom prst="rect">
            <a:avLst/>
          </a:prstGeom>
          <a:noFill/>
          <a:ln/>
        </p:spPr>
        <p:txBody>
          <a:bodyPr wrap="square" rtlCol="0" anchor="ctr"/>
          <a:lstStyle/>
          <a:p>
            <a:pPr marL="0" indent="0" algn="r">
              <a:buNone/>
            </a:pPr>
            <a:r>
              <a:rPr lang="en-US" sz="900" i="1" kern="0" spc="500" dirty="0">
                <a:solidFill>
                  <a:srgbClr val="8E7126"/>
                </a:solidFill>
                <a:latin typeface="Georgia" pitchFamily="34" charset="0"/>
                <a:ea typeface="Georgia" pitchFamily="34" charset="-122"/>
                <a:cs typeface="Georgia" pitchFamily="34" charset="-120"/>
              </a:rPr>
              <a:t>COLLECTIONS</a:t>
            </a:r>
            <a:endParaRPr lang="en-US" sz="900" dirty="0"/>
          </a:p>
        </p:txBody>
      </p:sp>
      <p:sp>
        <p:nvSpPr>
          <p:cNvPr id="47" name="Text 45"/>
          <p:cNvSpPr/>
          <p:nvPr/>
        </p:nvSpPr>
        <p:spPr>
          <a:xfrm>
            <a:off x="822960" y="5010912"/>
            <a:ext cx="3154680" cy="502920"/>
          </a:xfrm>
          <a:prstGeom prst="rect">
            <a:avLst/>
          </a:prstGeom>
          <a:noFill/>
          <a:ln/>
        </p:spPr>
        <p:txBody>
          <a:bodyPr wrap="square" rtlCol="0" anchor="ctr"/>
          <a:lstStyle/>
          <a:p>
            <a:pPr marL="0" indent="0" algn="r" rtl="1">
              <a:buNone/>
            </a:pPr>
            <a:r>
              <a:rPr lang="en-US" sz="2200" b="1" dirty="0">
                <a:solidFill>
                  <a:srgbClr val="8E7126"/>
                </a:solidFill>
                <a:latin typeface="Sakkal Majalla" pitchFamily="34" charset="0"/>
                <a:ea typeface="Sakkal Majalla" pitchFamily="34" charset="-122"/>
                <a:cs typeface="Sakkal Majalla" pitchFamily="34" charset="-120"/>
              </a:rPr>
              <a:t>تَحصيلُ المُستَحَقّات</a:t>
            </a:r>
            <a:endParaRPr lang="en-US" sz="2200" dirty="0"/>
          </a:p>
        </p:txBody>
      </p:sp>
      <p:sp>
        <p:nvSpPr>
          <p:cNvPr id="48" name="Text 46"/>
          <p:cNvSpPr/>
          <p:nvPr/>
        </p:nvSpPr>
        <p:spPr>
          <a:xfrm>
            <a:off x="822960" y="5559552"/>
            <a:ext cx="315468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تَحصيلٌ راقٍ يَحفَظُ العَلاقَة بِالعَميل.</a:t>
            </a:r>
            <a:endParaRPr lang="en-US" sz="1200" dirty="0"/>
          </a:p>
        </p:txBody>
      </p:sp>
      <p:sp>
        <p:nvSpPr>
          <p:cNvPr id="49" name="Shape 47"/>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50" name="Text 48"/>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51" name="Text 49"/>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05  /  12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0" y="640080"/>
            <a:ext cx="6126480" cy="292608"/>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OUTBOUND TELEMARKETING</a:t>
            </a:r>
            <a:endParaRPr lang="en-US" sz="1000" dirty="0"/>
          </a:p>
        </p:txBody>
      </p:sp>
      <p:sp>
        <p:nvSpPr>
          <p:cNvPr id="10" name="Text 8"/>
          <p:cNvSpPr/>
          <p:nvPr/>
        </p:nvSpPr>
        <p:spPr>
          <a:xfrm>
            <a:off x="5486400" y="960120"/>
            <a:ext cx="6126480" cy="868680"/>
          </a:xfrm>
          <a:prstGeom prst="rect">
            <a:avLst/>
          </a:prstGeom>
          <a:noFill/>
          <a:ln/>
        </p:spPr>
        <p:txBody>
          <a:bodyPr wrap="square" rtlCol="0" anchor="t"/>
          <a:lstStyle/>
          <a:p>
            <a:pPr marL="0" indent="0" algn="r" rtl="1">
              <a:buNone/>
            </a:pPr>
            <a:r>
              <a:rPr lang="en-US" sz="4000" b="1" dirty="0">
                <a:solidFill>
                  <a:srgbClr val="8E7126"/>
                </a:solidFill>
                <a:latin typeface="Sakkal Majalla" pitchFamily="34" charset="0"/>
                <a:ea typeface="Sakkal Majalla" pitchFamily="34" charset="-122"/>
                <a:cs typeface="Sakkal Majalla" pitchFamily="34" charset="-120"/>
              </a:rPr>
              <a:t>التَّسويقُ الصّادِر</a:t>
            </a:r>
            <a:endParaRPr lang="en-US" sz="4000" dirty="0"/>
          </a:p>
        </p:txBody>
      </p:sp>
      <p:sp>
        <p:nvSpPr>
          <p:cNvPr id="11" name="Shape 9"/>
          <p:cNvSpPr/>
          <p:nvPr/>
        </p:nvSpPr>
        <p:spPr>
          <a:xfrm>
            <a:off x="11002975" y="182880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548640" y="2194560"/>
            <a:ext cx="11064240" cy="457200"/>
          </a:xfrm>
          <a:prstGeom prst="rect">
            <a:avLst/>
          </a:prstGeom>
          <a:noFill/>
          <a:ln/>
        </p:spPr>
        <p:txBody>
          <a:bodyPr wrap="square" rtlCol="0" anchor="ctr"/>
          <a:lstStyle/>
          <a:p>
            <a:pPr marL="0" indent="0" algn="r" rtl="1">
              <a:buNone/>
            </a:pPr>
            <a:r>
              <a:rPr lang="en-US" sz="1600" i="1" dirty="0">
                <a:solidFill>
                  <a:srgbClr val="6B5A2E"/>
                </a:solidFill>
                <a:latin typeface="Sakkal Majalla" pitchFamily="34" charset="0"/>
                <a:ea typeface="Sakkal Majalla" pitchFamily="34" charset="-122"/>
                <a:cs typeface="Sakkal Majalla" pitchFamily="34" charset="-120"/>
              </a:rPr>
              <a:t>حَملاتُكَ الهاتِفيَّةُ في أَيدٍ تَفْهَمُ كَيفَ يُلامِسُ الصَّوتُ القَلب.</a:t>
            </a:r>
            <a:endParaRPr lang="en-US" sz="1600" dirty="0"/>
          </a:p>
        </p:txBody>
      </p:sp>
      <p:sp>
        <p:nvSpPr>
          <p:cNvPr id="13" name="Text 11"/>
          <p:cNvSpPr/>
          <p:nvPr/>
        </p:nvSpPr>
        <p:spPr>
          <a:xfrm>
            <a:off x="6492240" y="2834640"/>
            <a:ext cx="5120640" cy="2743200"/>
          </a:xfrm>
          <a:prstGeom prst="rect">
            <a:avLst/>
          </a:prstGeom>
          <a:noFill/>
          <a:ln/>
        </p:spPr>
        <p:txBody>
          <a:bodyPr wrap="square" rtlCol="0" anchor="ctr"/>
          <a:lstStyle/>
          <a:p>
            <a:pPr marL="0" indent="0" algn="r" rtl="1">
              <a:lnSpc>
                <a:spcPct val="160000"/>
              </a:lnSpc>
              <a:buNone/>
            </a:pPr>
            <a:r>
              <a:rPr lang="en-US" sz="1400" dirty="0">
                <a:solidFill>
                  <a:srgbClr val="4A3F1F"/>
                </a:solidFill>
                <a:latin typeface="Sakkal Majalla" pitchFamily="34" charset="0"/>
                <a:ea typeface="Sakkal Majalla" pitchFamily="34" charset="-122"/>
                <a:cs typeface="Sakkal Majalla" pitchFamily="34" charset="-120"/>
              </a:rPr>
              <a:t>نُصَمِّمُ لَكَ حَملاتٍ تَسويقيَّةً صادرَةً مَدروسَة، تَنطَلِقُ من فَهمٍ عَميقٍ لِجُمهورِ هَدَفِك، وَتُنفِّذُها كَوادِرُ مُدَرَّبَةٌ تَعرِفُ مَتى تَتَكَلَّمُ وَمَتى تُنصِت. كلُّ مكالَمَةٍ مَبنيَّةٌ على سيناريو مُتَطَوِّر، وَمُراقَبَةٌ بِأنظمَةِ جودَةٍ تَضمَنُ أنَّ الرِّسالَةَ تَصِلُ بِالنَّبرَةِ الصَّحيحَة.</a:t>
            </a:r>
            <a:endParaRPr lang="en-US" sz="1400" dirty="0"/>
          </a:p>
        </p:txBody>
      </p:sp>
      <p:sp>
        <p:nvSpPr>
          <p:cNvPr id="14" name="Text 12"/>
          <p:cNvSpPr/>
          <p:nvPr/>
        </p:nvSpPr>
        <p:spPr>
          <a:xfrm>
            <a:off x="548640" y="2834640"/>
            <a:ext cx="5486400" cy="274320"/>
          </a:xfrm>
          <a:prstGeom prst="rect">
            <a:avLst/>
          </a:prstGeom>
          <a:noFill/>
          <a:ln/>
        </p:spPr>
        <p:txBody>
          <a:bodyPr wrap="square" rtlCol="0" anchor="ctr"/>
          <a:lstStyle/>
          <a:p>
            <a:pPr marL="0" indent="0" algn="r">
              <a:buNone/>
            </a:pPr>
            <a:r>
              <a:rPr lang="en-US" sz="900" i="1" kern="0" spc="500" dirty="0">
                <a:solidFill>
                  <a:srgbClr val="8E7126"/>
                </a:solidFill>
                <a:latin typeface="Georgia" pitchFamily="34" charset="0"/>
                <a:ea typeface="Georgia" pitchFamily="34" charset="-122"/>
                <a:cs typeface="Georgia" pitchFamily="34" charset="-120"/>
              </a:rPr>
              <a:t>KEY CAPABILITIES</a:t>
            </a:r>
            <a:endParaRPr lang="en-US" sz="900" dirty="0"/>
          </a:p>
        </p:txBody>
      </p:sp>
      <p:sp>
        <p:nvSpPr>
          <p:cNvPr id="15" name="Shape 13"/>
          <p:cNvSpPr/>
          <p:nvPr/>
        </p:nvSpPr>
        <p:spPr>
          <a:xfrm>
            <a:off x="5897880" y="3319272"/>
            <a:ext cx="91440" cy="91440"/>
          </a:xfrm>
          <a:prstGeom prst="ellipse">
            <a:avLst/>
          </a:prstGeom>
          <a:solidFill>
            <a:srgbClr val="C9A84C"/>
          </a:solidFill>
          <a:ln/>
        </p:spPr>
        <p:txBody>
          <a:bodyPr/>
          <a:lstStyle/>
          <a:p>
            <a:endParaRPr lang="ar-SA"/>
          </a:p>
        </p:txBody>
      </p:sp>
      <p:sp>
        <p:nvSpPr>
          <p:cNvPr id="16" name="Text 14"/>
          <p:cNvSpPr/>
          <p:nvPr/>
        </p:nvSpPr>
        <p:spPr>
          <a:xfrm>
            <a:off x="548640" y="3200400"/>
            <a:ext cx="521208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إدارَةُ حَملاتٍ مُوَجَّهَةٍ لِشَرائحَ مُحَدَّدَة</a:t>
            </a:r>
            <a:endParaRPr lang="en-US" sz="1300" dirty="0"/>
          </a:p>
        </p:txBody>
      </p:sp>
      <p:sp>
        <p:nvSpPr>
          <p:cNvPr id="17" name="Shape 15"/>
          <p:cNvSpPr/>
          <p:nvPr/>
        </p:nvSpPr>
        <p:spPr>
          <a:xfrm>
            <a:off x="5897880" y="3739896"/>
            <a:ext cx="91440" cy="91440"/>
          </a:xfrm>
          <a:prstGeom prst="ellipse">
            <a:avLst/>
          </a:prstGeom>
          <a:solidFill>
            <a:srgbClr val="C9A84C"/>
          </a:solidFill>
          <a:ln/>
        </p:spPr>
        <p:txBody>
          <a:bodyPr/>
          <a:lstStyle/>
          <a:p>
            <a:endParaRPr lang="ar-SA"/>
          </a:p>
        </p:txBody>
      </p:sp>
      <p:sp>
        <p:nvSpPr>
          <p:cNvPr id="18" name="Text 16"/>
          <p:cNvSpPr/>
          <p:nvPr/>
        </p:nvSpPr>
        <p:spPr>
          <a:xfrm>
            <a:off x="548640" y="3621024"/>
            <a:ext cx="521208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أنظِمَةُ اتِّصالٍ آليٍّ ذَكيَّة (Auto Dialer)</a:t>
            </a:r>
            <a:endParaRPr lang="en-US" sz="1300" dirty="0"/>
          </a:p>
        </p:txBody>
      </p:sp>
      <p:sp>
        <p:nvSpPr>
          <p:cNvPr id="19" name="Shape 17"/>
          <p:cNvSpPr/>
          <p:nvPr/>
        </p:nvSpPr>
        <p:spPr>
          <a:xfrm>
            <a:off x="5897880" y="4160520"/>
            <a:ext cx="91440" cy="91440"/>
          </a:xfrm>
          <a:prstGeom prst="ellipse">
            <a:avLst/>
          </a:prstGeom>
          <a:solidFill>
            <a:srgbClr val="C9A84C"/>
          </a:solidFill>
          <a:ln/>
        </p:spPr>
        <p:txBody>
          <a:bodyPr/>
          <a:lstStyle/>
          <a:p>
            <a:endParaRPr lang="ar-SA"/>
          </a:p>
        </p:txBody>
      </p:sp>
      <p:sp>
        <p:nvSpPr>
          <p:cNvPr id="20" name="Text 18"/>
          <p:cNvSpPr/>
          <p:nvPr/>
        </p:nvSpPr>
        <p:spPr>
          <a:xfrm>
            <a:off x="548640" y="4041648"/>
            <a:ext cx="521208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نَصُّ مُكالَمَةٍ مُخَصَّصٌ لِكلِّ حَملَة</a:t>
            </a:r>
            <a:endParaRPr lang="en-US" sz="1300" dirty="0"/>
          </a:p>
        </p:txBody>
      </p:sp>
      <p:sp>
        <p:nvSpPr>
          <p:cNvPr id="21" name="Shape 19"/>
          <p:cNvSpPr/>
          <p:nvPr/>
        </p:nvSpPr>
        <p:spPr>
          <a:xfrm>
            <a:off x="5897880" y="4581144"/>
            <a:ext cx="91440" cy="91440"/>
          </a:xfrm>
          <a:prstGeom prst="ellipse">
            <a:avLst/>
          </a:prstGeom>
          <a:solidFill>
            <a:srgbClr val="C9A84C"/>
          </a:solidFill>
          <a:ln/>
        </p:spPr>
        <p:txBody>
          <a:bodyPr/>
          <a:lstStyle/>
          <a:p>
            <a:endParaRPr lang="ar-SA"/>
          </a:p>
        </p:txBody>
      </p:sp>
      <p:sp>
        <p:nvSpPr>
          <p:cNvPr id="22" name="Text 20"/>
          <p:cNvSpPr/>
          <p:nvPr/>
        </p:nvSpPr>
        <p:spPr>
          <a:xfrm>
            <a:off x="548640" y="4462272"/>
            <a:ext cx="521208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مُتابَعَةٌ لَحظيَّةٌ لِأَداءِ كلِّ مُمَثِّل</a:t>
            </a:r>
            <a:endParaRPr lang="en-US" sz="1300" dirty="0"/>
          </a:p>
        </p:txBody>
      </p:sp>
      <p:sp>
        <p:nvSpPr>
          <p:cNvPr id="23" name="Shape 21"/>
          <p:cNvSpPr/>
          <p:nvPr/>
        </p:nvSpPr>
        <p:spPr>
          <a:xfrm>
            <a:off x="5897880" y="5001768"/>
            <a:ext cx="91440" cy="91440"/>
          </a:xfrm>
          <a:prstGeom prst="ellipse">
            <a:avLst/>
          </a:prstGeom>
          <a:solidFill>
            <a:srgbClr val="C9A84C"/>
          </a:solidFill>
          <a:ln/>
        </p:spPr>
        <p:txBody>
          <a:bodyPr/>
          <a:lstStyle/>
          <a:p>
            <a:endParaRPr lang="ar-SA"/>
          </a:p>
        </p:txBody>
      </p:sp>
      <p:sp>
        <p:nvSpPr>
          <p:cNvPr id="24" name="Text 22"/>
          <p:cNvSpPr/>
          <p:nvPr/>
        </p:nvSpPr>
        <p:spPr>
          <a:xfrm>
            <a:off x="548640" y="4882896"/>
            <a:ext cx="521208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تَقاريرُ يَوميَّةٌ بِنَتائجَ قابلَةٍ للقياس</a:t>
            </a:r>
            <a:endParaRPr lang="en-US" sz="1300" dirty="0"/>
          </a:p>
        </p:txBody>
      </p:sp>
      <p:sp>
        <p:nvSpPr>
          <p:cNvPr id="25" name="Shape 23"/>
          <p:cNvSpPr/>
          <p:nvPr/>
        </p:nvSpPr>
        <p:spPr>
          <a:xfrm>
            <a:off x="5897880" y="5422392"/>
            <a:ext cx="91440" cy="91440"/>
          </a:xfrm>
          <a:prstGeom prst="ellipse">
            <a:avLst/>
          </a:prstGeom>
          <a:solidFill>
            <a:srgbClr val="C9A84C"/>
          </a:solidFill>
          <a:ln/>
        </p:spPr>
        <p:txBody>
          <a:bodyPr/>
          <a:lstStyle/>
          <a:p>
            <a:endParaRPr lang="ar-SA"/>
          </a:p>
        </p:txBody>
      </p:sp>
      <p:sp>
        <p:nvSpPr>
          <p:cNvPr id="26" name="Text 24"/>
          <p:cNvSpPr/>
          <p:nvPr/>
        </p:nvSpPr>
        <p:spPr>
          <a:xfrm>
            <a:off x="548640" y="5303520"/>
            <a:ext cx="521208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إعادَةُ الاتّصال الذَّكيَّةُ بِالعُملاء</a:t>
            </a:r>
            <a:endParaRPr lang="en-US" sz="1300" dirty="0"/>
          </a:p>
        </p:txBody>
      </p:sp>
      <p:sp>
        <p:nvSpPr>
          <p:cNvPr id="27" name="Shape 25"/>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28" name="Text 26"/>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29" name="Text 27"/>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06  /  12</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0" y="640080"/>
            <a:ext cx="6126480" cy="292608"/>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INBOUND CARE</a:t>
            </a:r>
            <a:endParaRPr lang="en-US" sz="1000" dirty="0"/>
          </a:p>
        </p:txBody>
      </p:sp>
      <p:sp>
        <p:nvSpPr>
          <p:cNvPr id="10" name="Text 8"/>
          <p:cNvSpPr/>
          <p:nvPr/>
        </p:nvSpPr>
        <p:spPr>
          <a:xfrm>
            <a:off x="5486400" y="960120"/>
            <a:ext cx="6126480" cy="868680"/>
          </a:xfrm>
          <a:prstGeom prst="rect">
            <a:avLst/>
          </a:prstGeom>
          <a:noFill/>
          <a:ln/>
        </p:spPr>
        <p:txBody>
          <a:bodyPr wrap="square" rtlCol="0" anchor="t"/>
          <a:lstStyle/>
          <a:p>
            <a:pPr marL="0" indent="0" algn="r" rtl="1">
              <a:buNone/>
            </a:pPr>
            <a:r>
              <a:rPr lang="en-US" sz="4000" b="1" dirty="0">
                <a:solidFill>
                  <a:srgbClr val="8E7126"/>
                </a:solidFill>
                <a:latin typeface="Sakkal Majalla" pitchFamily="34" charset="0"/>
                <a:ea typeface="Sakkal Majalla" pitchFamily="34" charset="-122"/>
                <a:cs typeface="Sakkal Majalla" pitchFamily="34" charset="-120"/>
              </a:rPr>
              <a:t>خِدمَةُ العُملاء</a:t>
            </a:r>
            <a:endParaRPr lang="en-US" sz="4000" dirty="0"/>
          </a:p>
        </p:txBody>
      </p:sp>
      <p:sp>
        <p:nvSpPr>
          <p:cNvPr id="11" name="Shape 9"/>
          <p:cNvSpPr/>
          <p:nvPr/>
        </p:nvSpPr>
        <p:spPr>
          <a:xfrm>
            <a:off x="11002975" y="182880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548640" y="2194560"/>
            <a:ext cx="11064240" cy="457200"/>
          </a:xfrm>
          <a:prstGeom prst="rect">
            <a:avLst/>
          </a:prstGeom>
          <a:noFill/>
          <a:ln/>
        </p:spPr>
        <p:txBody>
          <a:bodyPr wrap="square" rtlCol="0" anchor="ctr"/>
          <a:lstStyle/>
          <a:p>
            <a:pPr marL="0" indent="0" algn="r" rtl="1">
              <a:buNone/>
            </a:pPr>
            <a:r>
              <a:rPr lang="en-US" sz="1600" i="1" dirty="0">
                <a:solidFill>
                  <a:srgbClr val="6B5A2E"/>
                </a:solidFill>
                <a:latin typeface="Sakkal Majalla" pitchFamily="34" charset="0"/>
                <a:ea typeface="Sakkal Majalla" pitchFamily="34" charset="-122"/>
                <a:cs typeface="Sakkal Majalla" pitchFamily="34" charset="-120"/>
              </a:rPr>
              <a:t>كلُّ مُكالَمَةٍ واردَةٍ هي فُرصَةٌ لِنُؤَكِّدَ لِلعَميلِ أَنَّهُ مَسموع.</a:t>
            </a:r>
            <a:endParaRPr lang="en-US" sz="1600" dirty="0"/>
          </a:p>
        </p:txBody>
      </p:sp>
      <p:sp>
        <p:nvSpPr>
          <p:cNvPr id="13" name="Shape 11"/>
          <p:cNvSpPr/>
          <p:nvPr/>
        </p:nvSpPr>
        <p:spPr>
          <a:xfrm>
            <a:off x="8174736" y="2834640"/>
            <a:ext cx="3703320" cy="1417320"/>
          </a:xfrm>
          <a:prstGeom prst="rect">
            <a:avLst/>
          </a:prstGeom>
          <a:solidFill>
            <a:srgbClr val="F8F1DD"/>
          </a:solidFill>
          <a:ln/>
        </p:spPr>
        <p:txBody>
          <a:bodyPr/>
          <a:lstStyle/>
          <a:p>
            <a:endParaRPr lang="ar-SA"/>
          </a:p>
        </p:txBody>
      </p:sp>
      <p:sp>
        <p:nvSpPr>
          <p:cNvPr id="14" name="Shape 12"/>
          <p:cNvSpPr/>
          <p:nvPr/>
        </p:nvSpPr>
        <p:spPr>
          <a:xfrm>
            <a:off x="11823192" y="2834640"/>
            <a:ext cx="54864" cy="1417320"/>
          </a:xfrm>
          <a:prstGeom prst="rect">
            <a:avLst/>
          </a:prstGeom>
          <a:solidFill>
            <a:srgbClr val="C9A84C"/>
          </a:solidFill>
          <a:ln/>
        </p:spPr>
        <p:txBody>
          <a:bodyPr/>
          <a:lstStyle/>
          <a:p>
            <a:endParaRPr lang="ar-SA"/>
          </a:p>
        </p:txBody>
      </p:sp>
      <p:sp>
        <p:nvSpPr>
          <p:cNvPr id="15" name="Text 13"/>
          <p:cNvSpPr/>
          <p:nvPr/>
        </p:nvSpPr>
        <p:spPr>
          <a:xfrm>
            <a:off x="8403336" y="2999232"/>
            <a:ext cx="3246120" cy="228600"/>
          </a:xfrm>
          <a:prstGeom prst="rect">
            <a:avLst/>
          </a:prstGeom>
          <a:noFill/>
          <a:ln/>
        </p:spPr>
        <p:txBody>
          <a:bodyPr wrap="square" rtlCol="0" anchor="ctr"/>
          <a:lstStyle/>
          <a:p>
            <a:pPr marL="0" indent="0" algn="r">
              <a:buNone/>
            </a:pPr>
            <a:r>
              <a:rPr lang="en-US" sz="900" i="1" kern="0" spc="400" dirty="0">
                <a:solidFill>
                  <a:srgbClr val="8E7126"/>
                </a:solidFill>
                <a:latin typeface="Georgia" pitchFamily="34" charset="0"/>
                <a:ea typeface="Georgia" pitchFamily="34" charset="-122"/>
                <a:cs typeface="Georgia" pitchFamily="34" charset="-120"/>
              </a:rPr>
              <a:t>CALL RECEPTION</a:t>
            </a:r>
            <a:endParaRPr lang="en-US" sz="900" dirty="0"/>
          </a:p>
        </p:txBody>
      </p:sp>
      <p:sp>
        <p:nvSpPr>
          <p:cNvPr id="16" name="Text 14"/>
          <p:cNvSpPr/>
          <p:nvPr/>
        </p:nvSpPr>
        <p:spPr>
          <a:xfrm>
            <a:off x="8403336" y="3218688"/>
            <a:ext cx="3246120" cy="457200"/>
          </a:xfrm>
          <a:prstGeom prst="rect">
            <a:avLst/>
          </a:prstGeom>
          <a:noFill/>
          <a:ln/>
        </p:spPr>
        <p:txBody>
          <a:bodyPr wrap="square" rtlCol="0" anchor="ctr"/>
          <a:lstStyle/>
          <a:p>
            <a:pPr marL="0" indent="0" algn="r" rtl="1">
              <a:buNone/>
            </a:pPr>
            <a:r>
              <a:rPr lang="en-US" sz="2000" b="1" dirty="0">
                <a:solidFill>
                  <a:srgbClr val="8E7126"/>
                </a:solidFill>
                <a:latin typeface="Sakkal Majalla" pitchFamily="34" charset="0"/>
                <a:ea typeface="Sakkal Majalla" pitchFamily="34" charset="-122"/>
                <a:cs typeface="Sakkal Majalla" pitchFamily="34" charset="-120"/>
              </a:rPr>
              <a:t>اِستِقبالُ المُكالَمات</a:t>
            </a:r>
            <a:endParaRPr lang="en-US" sz="2000" dirty="0"/>
          </a:p>
        </p:txBody>
      </p:sp>
      <p:sp>
        <p:nvSpPr>
          <p:cNvPr id="17" name="Text 15"/>
          <p:cNvSpPr/>
          <p:nvPr/>
        </p:nvSpPr>
        <p:spPr>
          <a:xfrm>
            <a:off x="8403336" y="3712464"/>
            <a:ext cx="324612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تَوزيعٌ ذَكيٌّ للمُكالَمَةِ على المُختَصّ.</a:t>
            </a:r>
            <a:endParaRPr lang="en-US" sz="1200" dirty="0"/>
          </a:p>
        </p:txBody>
      </p:sp>
      <p:sp>
        <p:nvSpPr>
          <p:cNvPr id="18" name="Shape 16"/>
          <p:cNvSpPr/>
          <p:nvPr/>
        </p:nvSpPr>
        <p:spPr>
          <a:xfrm>
            <a:off x="4361688" y="2834640"/>
            <a:ext cx="3703320" cy="1417320"/>
          </a:xfrm>
          <a:prstGeom prst="rect">
            <a:avLst/>
          </a:prstGeom>
          <a:solidFill>
            <a:srgbClr val="F8F1DD"/>
          </a:solidFill>
          <a:ln/>
        </p:spPr>
        <p:txBody>
          <a:bodyPr/>
          <a:lstStyle/>
          <a:p>
            <a:endParaRPr lang="ar-SA"/>
          </a:p>
        </p:txBody>
      </p:sp>
      <p:sp>
        <p:nvSpPr>
          <p:cNvPr id="19" name="Shape 17"/>
          <p:cNvSpPr/>
          <p:nvPr/>
        </p:nvSpPr>
        <p:spPr>
          <a:xfrm>
            <a:off x="8010144" y="2834640"/>
            <a:ext cx="54864" cy="1417320"/>
          </a:xfrm>
          <a:prstGeom prst="rect">
            <a:avLst/>
          </a:prstGeom>
          <a:solidFill>
            <a:srgbClr val="C9A84C"/>
          </a:solidFill>
          <a:ln/>
        </p:spPr>
        <p:txBody>
          <a:bodyPr/>
          <a:lstStyle/>
          <a:p>
            <a:endParaRPr lang="ar-SA"/>
          </a:p>
        </p:txBody>
      </p:sp>
      <p:sp>
        <p:nvSpPr>
          <p:cNvPr id="20" name="Text 18"/>
          <p:cNvSpPr/>
          <p:nvPr/>
        </p:nvSpPr>
        <p:spPr>
          <a:xfrm>
            <a:off x="4590288" y="2999232"/>
            <a:ext cx="3246120" cy="228600"/>
          </a:xfrm>
          <a:prstGeom prst="rect">
            <a:avLst/>
          </a:prstGeom>
          <a:noFill/>
          <a:ln/>
        </p:spPr>
        <p:txBody>
          <a:bodyPr wrap="square" rtlCol="0" anchor="ctr"/>
          <a:lstStyle/>
          <a:p>
            <a:pPr marL="0" indent="0" algn="r">
              <a:buNone/>
            </a:pPr>
            <a:r>
              <a:rPr lang="en-US" sz="900" i="1" kern="0" spc="400" dirty="0">
                <a:solidFill>
                  <a:srgbClr val="8E7126"/>
                </a:solidFill>
                <a:latin typeface="Georgia" pitchFamily="34" charset="0"/>
                <a:ea typeface="Georgia" pitchFamily="34" charset="-122"/>
                <a:cs typeface="Georgia" pitchFamily="34" charset="-120"/>
              </a:rPr>
              <a:t>SMART IVR</a:t>
            </a:r>
            <a:endParaRPr lang="en-US" sz="900" dirty="0"/>
          </a:p>
        </p:txBody>
      </p:sp>
      <p:sp>
        <p:nvSpPr>
          <p:cNvPr id="21" name="Text 19"/>
          <p:cNvSpPr/>
          <p:nvPr/>
        </p:nvSpPr>
        <p:spPr>
          <a:xfrm>
            <a:off x="4590288" y="3218688"/>
            <a:ext cx="3246120" cy="457200"/>
          </a:xfrm>
          <a:prstGeom prst="rect">
            <a:avLst/>
          </a:prstGeom>
          <a:noFill/>
          <a:ln/>
        </p:spPr>
        <p:txBody>
          <a:bodyPr wrap="square" rtlCol="0" anchor="ctr"/>
          <a:lstStyle/>
          <a:p>
            <a:pPr marL="0" indent="0" algn="r" rtl="1">
              <a:buNone/>
            </a:pPr>
            <a:r>
              <a:rPr lang="en-US" sz="2000" b="1" dirty="0">
                <a:solidFill>
                  <a:srgbClr val="8E7126"/>
                </a:solidFill>
                <a:latin typeface="Sakkal Majalla" pitchFamily="34" charset="0"/>
                <a:ea typeface="Sakkal Majalla" pitchFamily="34" charset="-122"/>
                <a:cs typeface="Sakkal Majalla" pitchFamily="34" charset="-120"/>
              </a:rPr>
              <a:t>خَدَمَةُ الرَّدِّ الآليّ</a:t>
            </a:r>
            <a:endParaRPr lang="en-US" sz="2000" dirty="0"/>
          </a:p>
        </p:txBody>
      </p:sp>
      <p:sp>
        <p:nvSpPr>
          <p:cNvPr id="22" name="Text 20"/>
          <p:cNvSpPr/>
          <p:nvPr/>
        </p:nvSpPr>
        <p:spPr>
          <a:xfrm>
            <a:off x="4590288" y="3712464"/>
            <a:ext cx="324612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نِظامُ ردٍّ صَوتيٍّ يَصِلُ العَميلَ بِما يَحتاج.</a:t>
            </a:r>
            <a:endParaRPr lang="en-US" sz="1200" dirty="0"/>
          </a:p>
        </p:txBody>
      </p:sp>
      <p:sp>
        <p:nvSpPr>
          <p:cNvPr id="23" name="Shape 21"/>
          <p:cNvSpPr/>
          <p:nvPr/>
        </p:nvSpPr>
        <p:spPr>
          <a:xfrm>
            <a:off x="548640" y="2834640"/>
            <a:ext cx="3703320" cy="1417320"/>
          </a:xfrm>
          <a:prstGeom prst="rect">
            <a:avLst/>
          </a:prstGeom>
          <a:solidFill>
            <a:srgbClr val="F8F1DD"/>
          </a:solidFill>
          <a:ln/>
        </p:spPr>
        <p:txBody>
          <a:bodyPr/>
          <a:lstStyle/>
          <a:p>
            <a:endParaRPr lang="ar-SA"/>
          </a:p>
        </p:txBody>
      </p:sp>
      <p:sp>
        <p:nvSpPr>
          <p:cNvPr id="24" name="Shape 22"/>
          <p:cNvSpPr/>
          <p:nvPr/>
        </p:nvSpPr>
        <p:spPr>
          <a:xfrm>
            <a:off x="4197096" y="2834640"/>
            <a:ext cx="54864" cy="1417320"/>
          </a:xfrm>
          <a:prstGeom prst="rect">
            <a:avLst/>
          </a:prstGeom>
          <a:solidFill>
            <a:srgbClr val="C9A84C"/>
          </a:solidFill>
          <a:ln/>
        </p:spPr>
        <p:txBody>
          <a:bodyPr/>
          <a:lstStyle/>
          <a:p>
            <a:endParaRPr lang="ar-SA"/>
          </a:p>
        </p:txBody>
      </p:sp>
      <p:sp>
        <p:nvSpPr>
          <p:cNvPr id="25" name="Text 23"/>
          <p:cNvSpPr/>
          <p:nvPr/>
        </p:nvSpPr>
        <p:spPr>
          <a:xfrm>
            <a:off x="777240" y="2999232"/>
            <a:ext cx="3246120" cy="228600"/>
          </a:xfrm>
          <a:prstGeom prst="rect">
            <a:avLst/>
          </a:prstGeom>
          <a:noFill/>
          <a:ln/>
        </p:spPr>
        <p:txBody>
          <a:bodyPr wrap="square" rtlCol="0" anchor="ctr"/>
          <a:lstStyle/>
          <a:p>
            <a:pPr marL="0" indent="0" algn="r">
              <a:buNone/>
            </a:pPr>
            <a:r>
              <a:rPr lang="en-US" sz="900" i="1" kern="0" spc="400" dirty="0">
                <a:solidFill>
                  <a:srgbClr val="8E7126"/>
                </a:solidFill>
                <a:latin typeface="Georgia" pitchFamily="34" charset="0"/>
                <a:ea typeface="Georgia" pitchFamily="34" charset="-122"/>
                <a:cs typeface="Georgia" pitchFamily="34" charset="-120"/>
              </a:rPr>
              <a:t>COMPLAINTS</a:t>
            </a:r>
            <a:endParaRPr lang="en-US" sz="900" dirty="0"/>
          </a:p>
        </p:txBody>
      </p:sp>
      <p:sp>
        <p:nvSpPr>
          <p:cNvPr id="26" name="Text 24"/>
          <p:cNvSpPr/>
          <p:nvPr/>
        </p:nvSpPr>
        <p:spPr>
          <a:xfrm>
            <a:off x="777240" y="3218688"/>
            <a:ext cx="3246120" cy="457200"/>
          </a:xfrm>
          <a:prstGeom prst="rect">
            <a:avLst/>
          </a:prstGeom>
          <a:noFill/>
          <a:ln/>
        </p:spPr>
        <p:txBody>
          <a:bodyPr wrap="square" rtlCol="0" anchor="ctr"/>
          <a:lstStyle/>
          <a:p>
            <a:pPr marL="0" indent="0" algn="r" rtl="1">
              <a:buNone/>
            </a:pPr>
            <a:r>
              <a:rPr lang="en-US" sz="2000" b="1" dirty="0">
                <a:solidFill>
                  <a:srgbClr val="8E7126"/>
                </a:solidFill>
                <a:latin typeface="Sakkal Majalla" pitchFamily="34" charset="0"/>
                <a:ea typeface="Sakkal Majalla" pitchFamily="34" charset="-122"/>
                <a:cs typeface="Sakkal Majalla" pitchFamily="34" charset="-120"/>
              </a:rPr>
              <a:t>مُعالَجَةُ الشَّكاوى</a:t>
            </a:r>
            <a:endParaRPr lang="en-US" sz="2000" dirty="0"/>
          </a:p>
        </p:txBody>
      </p:sp>
      <p:sp>
        <p:nvSpPr>
          <p:cNvPr id="27" name="Text 25"/>
          <p:cNvSpPr/>
          <p:nvPr/>
        </p:nvSpPr>
        <p:spPr>
          <a:xfrm>
            <a:off x="777240" y="3712464"/>
            <a:ext cx="324612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نِظامٌ مُتَكامِلٌ لِتَتَبُّعِ الشَّكاوى وَحَلِّها.</a:t>
            </a:r>
            <a:endParaRPr lang="en-US" sz="1200" dirty="0"/>
          </a:p>
        </p:txBody>
      </p:sp>
      <p:sp>
        <p:nvSpPr>
          <p:cNvPr id="28" name="Shape 26"/>
          <p:cNvSpPr/>
          <p:nvPr/>
        </p:nvSpPr>
        <p:spPr>
          <a:xfrm>
            <a:off x="8174736" y="4389120"/>
            <a:ext cx="3703320" cy="1417320"/>
          </a:xfrm>
          <a:prstGeom prst="rect">
            <a:avLst/>
          </a:prstGeom>
          <a:solidFill>
            <a:srgbClr val="F8F1DD"/>
          </a:solidFill>
          <a:ln/>
        </p:spPr>
        <p:txBody>
          <a:bodyPr/>
          <a:lstStyle/>
          <a:p>
            <a:endParaRPr lang="ar-SA"/>
          </a:p>
        </p:txBody>
      </p:sp>
      <p:sp>
        <p:nvSpPr>
          <p:cNvPr id="29" name="Shape 27"/>
          <p:cNvSpPr/>
          <p:nvPr/>
        </p:nvSpPr>
        <p:spPr>
          <a:xfrm>
            <a:off x="11823192" y="4389120"/>
            <a:ext cx="54864" cy="1417320"/>
          </a:xfrm>
          <a:prstGeom prst="rect">
            <a:avLst/>
          </a:prstGeom>
          <a:solidFill>
            <a:srgbClr val="C9A84C"/>
          </a:solidFill>
          <a:ln/>
        </p:spPr>
        <p:txBody>
          <a:bodyPr/>
          <a:lstStyle/>
          <a:p>
            <a:endParaRPr lang="ar-SA"/>
          </a:p>
        </p:txBody>
      </p:sp>
      <p:sp>
        <p:nvSpPr>
          <p:cNvPr id="30" name="Text 28"/>
          <p:cNvSpPr/>
          <p:nvPr/>
        </p:nvSpPr>
        <p:spPr>
          <a:xfrm>
            <a:off x="8403336" y="4553712"/>
            <a:ext cx="3246120" cy="228600"/>
          </a:xfrm>
          <a:prstGeom prst="rect">
            <a:avLst/>
          </a:prstGeom>
          <a:noFill/>
          <a:ln/>
        </p:spPr>
        <p:txBody>
          <a:bodyPr wrap="square" rtlCol="0" anchor="ctr"/>
          <a:lstStyle/>
          <a:p>
            <a:pPr marL="0" indent="0" algn="r">
              <a:buNone/>
            </a:pPr>
            <a:r>
              <a:rPr lang="en-US" sz="900" i="1" kern="0" spc="400" dirty="0">
                <a:solidFill>
                  <a:srgbClr val="8E7126"/>
                </a:solidFill>
                <a:latin typeface="Georgia" pitchFamily="34" charset="0"/>
                <a:ea typeface="Georgia" pitchFamily="34" charset="-122"/>
                <a:cs typeface="Georgia" pitchFamily="34" charset="-120"/>
              </a:rPr>
              <a:t>PRODUCT INQUIRIES</a:t>
            </a:r>
            <a:endParaRPr lang="en-US" sz="900" dirty="0"/>
          </a:p>
        </p:txBody>
      </p:sp>
      <p:sp>
        <p:nvSpPr>
          <p:cNvPr id="31" name="Text 29"/>
          <p:cNvSpPr/>
          <p:nvPr/>
        </p:nvSpPr>
        <p:spPr>
          <a:xfrm>
            <a:off x="8403336" y="4773168"/>
            <a:ext cx="3246120" cy="457200"/>
          </a:xfrm>
          <a:prstGeom prst="rect">
            <a:avLst/>
          </a:prstGeom>
          <a:noFill/>
          <a:ln/>
        </p:spPr>
        <p:txBody>
          <a:bodyPr wrap="square" rtlCol="0" anchor="ctr"/>
          <a:lstStyle/>
          <a:p>
            <a:pPr marL="0" indent="0" algn="r" rtl="1">
              <a:buNone/>
            </a:pPr>
            <a:r>
              <a:rPr lang="en-US" sz="2000" b="1" dirty="0">
                <a:solidFill>
                  <a:srgbClr val="8E7126"/>
                </a:solidFill>
                <a:latin typeface="Sakkal Majalla" pitchFamily="34" charset="0"/>
                <a:ea typeface="Sakkal Majalla" pitchFamily="34" charset="-122"/>
                <a:cs typeface="Sakkal Majalla" pitchFamily="34" charset="-120"/>
              </a:rPr>
              <a:t>اِستفساراتُ المُنتَجات</a:t>
            </a:r>
            <a:endParaRPr lang="en-US" sz="2000" dirty="0"/>
          </a:p>
        </p:txBody>
      </p:sp>
      <p:sp>
        <p:nvSpPr>
          <p:cNvPr id="32" name="Text 30"/>
          <p:cNvSpPr/>
          <p:nvPr/>
        </p:nvSpPr>
        <p:spPr>
          <a:xfrm>
            <a:off x="8403336" y="5266944"/>
            <a:ext cx="324612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إجاباتٌ دَقيقَةٌ تُعَزِّزُ ثِقَةَ العَميل.</a:t>
            </a:r>
            <a:endParaRPr lang="en-US" sz="1200" dirty="0"/>
          </a:p>
        </p:txBody>
      </p:sp>
      <p:sp>
        <p:nvSpPr>
          <p:cNvPr id="33" name="Shape 31"/>
          <p:cNvSpPr/>
          <p:nvPr/>
        </p:nvSpPr>
        <p:spPr>
          <a:xfrm>
            <a:off x="4361688" y="4389120"/>
            <a:ext cx="3703320" cy="1417320"/>
          </a:xfrm>
          <a:prstGeom prst="rect">
            <a:avLst/>
          </a:prstGeom>
          <a:solidFill>
            <a:srgbClr val="F8F1DD"/>
          </a:solidFill>
          <a:ln/>
        </p:spPr>
        <p:txBody>
          <a:bodyPr/>
          <a:lstStyle/>
          <a:p>
            <a:endParaRPr lang="ar-SA"/>
          </a:p>
        </p:txBody>
      </p:sp>
      <p:sp>
        <p:nvSpPr>
          <p:cNvPr id="34" name="Shape 32"/>
          <p:cNvSpPr/>
          <p:nvPr/>
        </p:nvSpPr>
        <p:spPr>
          <a:xfrm>
            <a:off x="8010144" y="4389120"/>
            <a:ext cx="54864" cy="1417320"/>
          </a:xfrm>
          <a:prstGeom prst="rect">
            <a:avLst/>
          </a:prstGeom>
          <a:solidFill>
            <a:srgbClr val="C9A84C"/>
          </a:solidFill>
          <a:ln/>
        </p:spPr>
        <p:txBody>
          <a:bodyPr/>
          <a:lstStyle/>
          <a:p>
            <a:endParaRPr lang="ar-SA"/>
          </a:p>
        </p:txBody>
      </p:sp>
      <p:sp>
        <p:nvSpPr>
          <p:cNvPr id="35" name="Text 33"/>
          <p:cNvSpPr/>
          <p:nvPr/>
        </p:nvSpPr>
        <p:spPr>
          <a:xfrm>
            <a:off x="4590288" y="4553712"/>
            <a:ext cx="3246120" cy="228600"/>
          </a:xfrm>
          <a:prstGeom prst="rect">
            <a:avLst/>
          </a:prstGeom>
          <a:noFill/>
          <a:ln/>
        </p:spPr>
        <p:txBody>
          <a:bodyPr wrap="square" rtlCol="0" anchor="ctr"/>
          <a:lstStyle/>
          <a:p>
            <a:pPr marL="0" indent="0" algn="r">
              <a:buNone/>
            </a:pPr>
            <a:r>
              <a:rPr lang="en-US" sz="900" i="1" kern="0" spc="400" dirty="0">
                <a:solidFill>
                  <a:srgbClr val="8E7126"/>
                </a:solidFill>
                <a:latin typeface="Georgia" pitchFamily="34" charset="0"/>
                <a:ea typeface="Georgia" pitchFamily="34" charset="-122"/>
                <a:cs typeface="Georgia" pitchFamily="34" charset="-120"/>
              </a:rPr>
              <a:t>ESCALATION</a:t>
            </a:r>
            <a:endParaRPr lang="en-US" sz="900" dirty="0"/>
          </a:p>
        </p:txBody>
      </p:sp>
      <p:sp>
        <p:nvSpPr>
          <p:cNvPr id="36" name="Text 34"/>
          <p:cNvSpPr/>
          <p:nvPr/>
        </p:nvSpPr>
        <p:spPr>
          <a:xfrm>
            <a:off x="4590288" y="4773168"/>
            <a:ext cx="3246120" cy="457200"/>
          </a:xfrm>
          <a:prstGeom prst="rect">
            <a:avLst/>
          </a:prstGeom>
          <a:noFill/>
          <a:ln/>
        </p:spPr>
        <p:txBody>
          <a:bodyPr wrap="square" rtlCol="0" anchor="ctr"/>
          <a:lstStyle/>
          <a:p>
            <a:pPr marL="0" indent="0" algn="r" rtl="1">
              <a:buNone/>
            </a:pPr>
            <a:r>
              <a:rPr lang="en-US" sz="2000" b="1" dirty="0">
                <a:solidFill>
                  <a:srgbClr val="8E7126"/>
                </a:solidFill>
                <a:latin typeface="Sakkal Majalla" pitchFamily="34" charset="0"/>
                <a:ea typeface="Sakkal Majalla" pitchFamily="34" charset="-122"/>
                <a:cs typeface="Sakkal Majalla" pitchFamily="34" charset="-120"/>
              </a:rPr>
              <a:t>تَصعيدُ الحالاتِ الحَرِجَة</a:t>
            </a:r>
            <a:endParaRPr lang="en-US" sz="2000" dirty="0"/>
          </a:p>
        </p:txBody>
      </p:sp>
      <p:sp>
        <p:nvSpPr>
          <p:cNvPr id="37" name="Text 35"/>
          <p:cNvSpPr/>
          <p:nvPr/>
        </p:nvSpPr>
        <p:spPr>
          <a:xfrm>
            <a:off x="4590288" y="5266944"/>
            <a:ext cx="324612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مَسارٌ سَريعٌ لِلحالاتِ المُستَعجِلَة.</a:t>
            </a:r>
            <a:endParaRPr lang="en-US" sz="1200" dirty="0"/>
          </a:p>
        </p:txBody>
      </p:sp>
      <p:sp>
        <p:nvSpPr>
          <p:cNvPr id="38" name="Shape 36"/>
          <p:cNvSpPr/>
          <p:nvPr/>
        </p:nvSpPr>
        <p:spPr>
          <a:xfrm>
            <a:off x="548640" y="4389120"/>
            <a:ext cx="3703320" cy="1417320"/>
          </a:xfrm>
          <a:prstGeom prst="rect">
            <a:avLst/>
          </a:prstGeom>
          <a:solidFill>
            <a:srgbClr val="F8F1DD"/>
          </a:solidFill>
          <a:ln/>
        </p:spPr>
        <p:txBody>
          <a:bodyPr/>
          <a:lstStyle/>
          <a:p>
            <a:endParaRPr lang="ar-SA"/>
          </a:p>
        </p:txBody>
      </p:sp>
      <p:sp>
        <p:nvSpPr>
          <p:cNvPr id="39" name="Shape 37"/>
          <p:cNvSpPr/>
          <p:nvPr/>
        </p:nvSpPr>
        <p:spPr>
          <a:xfrm>
            <a:off x="4197096" y="4389120"/>
            <a:ext cx="54864" cy="1417320"/>
          </a:xfrm>
          <a:prstGeom prst="rect">
            <a:avLst/>
          </a:prstGeom>
          <a:solidFill>
            <a:srgbClr val="C9A84C"/>
          </a:solidFill>
          <a:ln/>
        </p:spPr>
        <p:txBody>
          <a:bodyPr/>
          <a:lstStyle/>
          <a:p>
            <a:endParaRPr lang="ar-SA"/>
          </a:p>
        </p:txBody>
      </p:sp>
      <p:sp>
        <p:nvSpPr>
          <p:cNvPr id="40" name="Text 38"/>
          <p:cNvSpPr/>
          <p:nvPr/>
        </p:nvSpPr>
        <p:spPr>
          <a:xfrm>
            <a:off x="777240" y="4553712"/>
            <a:ext cx="3246120" cy="228600"/>
          </a:xfrm>
          <a:prstGeom prst="rect">
            <a:avLst/>
          </a:prstGeom>
          <a:noFill/>
          <a:ln/>
        </p:spPr>
        <p:txBody>
          <a:bodyPr wrap="square" rtlCol="0" anchor="ctr"/>
          <a:lstStyle/>
          <a:p>
            <a:pPr marL="0" indent="0" algn="r">
              <a:buNone/>
            </a:pPr>
            <a:r>
              <a:rPr lang="en-US" sz="900" i="1" kern="0" spc="400" dirty="0">
                <a:solidFill>
                  <a:srgbClr val="8E7126"/>
                </a:solidFill>
                <a:latin typeface="Georgia" pitchFamily="34" charset="0"/>
                <a:ea typeface="Georgia" pitchFamily="34" charset="-122"/>
                <a:cs typeface="Georgia" pitchFamily="34" charset="-120"/>
              </a:rPr>
              <a:t>AFTER-SALES</a:t>
            </a:r>
            <a:endParaRPr lang="en-US" sz="900" dirty="0"/>
          </a:p>
        </p:txBody>
      </p:sp>
      <p:sp>
        <p:nvSpPr>
          <p:cNvPr id="41" name="Text 39"/>
          <p:cNvSpPr/>
          <p:nvPr/>
        </p:nvSpPr>
        <p:spPr>
          <a:xfrm>
            <a:off x="777240" y="4773168"/>
            <a:ext cx="3246120" cy="457200"/>
          </a:xfrm>
          <a:prstGeom prst="rect">
            <a:avLst/>
          </a:prstGeom>
          <a:noFill/>
          <a:ln/>
        </p:spPr>
        <p:txBody>
          <a:bodyPr wrap="square" rtlCol="0" anchor="ctr"/>
          <a:lstStyle/>
          <a:p>
            <a:pPr marL="0" indent="0" algn="r" rtl="1">
              <a:buNone/>
            </a:pPr>
            <a:r>
              <a:rPr lang="en-US" sz="2000" b="1" dirty="0">
                <a:solidFill>
                  <a:srgbClr val="8E7126"/>
                </a:solidFill>
                <a:latin typeface="Sakkal Majalla" pitchFamily="34" charset="0"/>
                <a:ea typeface="Sakkal Majalla" pitchFamily="34" charset="-122"/>
                <a:cs typeface="Sakkal Majalla" pitchFamily="34" charset="-120"/>
              </a:rPr>
              <a:t>مُتابَعَةُ ما بَعدَ البَيع</a:t>
            </a:r>
            <a:endParaRPr lang="en-US" sz="2000" dirty="0"/>
          </a:p>
        </p:txBody>
      </p:sp>
      <p:sp>
        <p:nvSpPr>
          <p:cNvPr id="42" name="Text 40"/>
          <p:cNvSpPr/>
          <p:nvPr/>
        </p:nvSpPr>
        <p:spPr>
          <a:xfrm>
            <a:off x="777240" y="5266944"/>
            <a:ext cx="3246120" cy="457200"/>
          </a:xfrm>
          <a:prstGeom prst="rect">
            <a:avLst/>
          </a:prstGeom>
          <a:noFill/>
          <a:ln/>
        </p:spPr>
        <p:txBody>
          <a:bodyPr wrap="square" rtlCol="0" anchor="ctr"/>
          <a:lstStyle/>
          <a:p>
            <a:pPr marL="0" indent="0" algn="r" rtl="1">
              <a:buNone/>
            </a:pPr>
            <a:r>
              <a:rPr lang="en-US" sz="1200" dirty="0">
                <a:solidFill>
                  <a:srgbClr val="4A3F1F"/>
                </a:solidFill>
                <a:latin typeface="Sakkal Majalla" pitchFamily="34" charset="0"/>
                <a:ea typeface="Sakkal Majalla" pitchFamily="34" charset="-122"/>
                <a:cs typeface="Sakkal Majalla" pitchFamily="34" charset="-120"/>
              </a:rPr>
              <a:t>تَواصُلٌ يَحفَظُ العَلاقَة وَيُعَمِّقُها.</a:t>
            </a:r>
            <a:endParaRPr lang="en-US" sz="1200" dirty="0"/>
          </a:p>
        </p:txBody>
      </p:sp>
      <p:sp>
        <p:nvSpPr>
          <p:cNvPr id="43" name="Shape 41"/>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44" name="Text 42"/>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45" name="Text 43"/>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07  /  12</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0" y="640080"/>
            <a:ext cx="6126480" cy="292608"/>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QUALITY MANAGEMENT</a:t>
            </a:r>
            <a:endParaRPr lang="en-US" sz="1000" dirty="0"/>
          </a:p>
        </p:txBody>
      </p:sp>
      <p:sp>
        <p:nvSpPr>
          <p:cNvPr id="10" name="Text 8"/>
          <p:cNvSpPr/>
          <p:nvPr/>
        </p:nvSpPr>
        <p:spPr>
          <a:xfrm>
            <a:off x="5486400" y="960120"/>
            <a:ext cx="6126480" cy="868680"/>
          </a:xfrm>
          <a:prstGeom prst="rect">
            <a:avLst/>
          </a:prstGeom>
          <a:noFill/>
          <a:ln/>
        </p:spPr>
        <p:txBody>
          <a:bodyPr wrap="square" rtlCol="0" anchor="t"/>
          <a:lstStyle/>
          <a:p>
            <a:pPr marL="0" indent="0" algn="r" rtl="1">
              <a:buNone/>
            </a:pPr>
            <a:r>
              <a:rPr lang="en-US" sz="4000" b="1" dirty="0">
                <a:solidFill>
                  <a:srgbClr val="8E7126"/>
                </a:solidFill>
                <a:latin typeface="Sakkal Majalla" pitchFamily="34" charset="0"/>
                <a:ea typeface="Sakkal Majalla" pitchFamily="34" charset="-122"/>
                <a:cs typeface="Sakkal Majalla" pitchFamily="34" charset="-120"/>
              </a:rPr>
              <a:t>إدارَةُ الجَودَة</a:t>
            </a:r>
            <a:endParaRPr lang="en-US" sz="4000" dirty="0"/>
          </a:p>
        </p:txBody>
      </p:sp>
      <p:sp>
        <p:nvSpPr>
          <p:cNvPr id="11" name="Shape 9"/>
          <p:cNvSpPr/>
          <p:nvPr/>
        </p:nvSpPr>
        <p:spPr>
          <a:xfrm>
            <a:off x="11002975" y="182880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548640" y="2194560"/>
            <a:ext cx="11064240" cy="457200"/>
          </a:xfrm>
          <a:prstGeom prst="rect">
            <a:avLst/>
          </a:prstGeom>
          <a:noFill/>
          <a:ln/>
        </p:spPr>
        <p:txBody>
          <a:bodyPr wrap="square" rtlCol="0" anchor="ctr"/>
          <a:lstStyle/>
          <a:p>
            <a:pPr marL="0" indent="0" algn="r" rtl="1">
              <a:buNone/>
            </a:pPr>
            <a:r>
              <a:rPr lang="en-US" sz="1600" i="1" dirty="0">
                <a:solidFill>
                  <a:srgbClr val="6B5A2E"/>
                </a:solidFill>
                <a:latin typeface="Sakkal Majalla" pitchFamily="34" charset="0"/>
                <a:ea typeface="Sakkal Majalla" pitchFamily="34" charset="-122"/>
                <a:cs typeface="Sakkal Majalla" pitchFamily="34" charset="-120"/>
              </a:rPr>
              <a:t>الانطِباعُ المَتروكُ هو مِقياسُ نَجاحِنا الأَوّل.</a:t>
            </a:r>
            <a:endParaRPr lang="en-US" sz="1600" dirty="0"/>
          </a:p>
        </p:txBody>
      </p:sp>
      <p:sp>
        <p:nvSpPr>
          <p:cNvPr id="13" name="Shape 11"/>
          <p:cNvSpPr/>
          <p:nvPr/>
        </p:nvSpPr>
        <p:spPr>
          <a:xfrm>
            <a:off x="8174736" y="2880360"/>
            <a:ext cx="3703320" cy="3108960"/>
          </a:xfrm>
          <a:prstGeom prst="rect">
            <a:avLst/>
          </a:prstGeom>
          <a:solidFill>
            <a:srgbClr val="F8F1DD"/>
          </a:solidFill>
          <a:ln/>
        </p:spPr>
        <p:txBody>
          <a:bodyPr/>
          <a:lstStyle/>
          <a:p>
            <a:endParaRPr lang="ar-SA"/>
          </a:p>
        </p:txBody>
      </p:sp>
      <p:sp>
        <p:nvSpPr>
          <p:cNvPr id="14" name="Text 12"/>
          <p:cNvSpPr/>
          <p:nvPr/>
        </p:nvSpPr>
        <p:spPr>
          <a:xfrm>
            <a:off x="8174736" y="3154680"/>
            <a:ext cx="3703320" cy="1371600"/>
          </a:xfrm>
          <a:prstGeom prst="rect">
            <a:avLst/>
          </a:prstGeom>
          <a:noFill/>
          <a:ln/>
        </p:spPr>
        <p:txBody>
          <a:bodyPr wrap="square" rtlCol="0" anchor="ctr"/>
          <a:lstStyle/>
          <a:p>
            <a:pPr marL="0" indent="0" algn="ctr">
              <a:buNone/>
            </a:pPr>
            <a:r>
              <a:rPr lang="en-US" sz="9600" i="1" dirty="0">
                <a:solidFill>
                  <a:srgbClr val="C9A84C"/>
                </a:solidFill>
                <a:latin typeface="Georgia" pitchFamily="34" charset="0"/>
                <a:ea typeface="Georgia" pitchFamily="34" charset="-122"/>
                <a:cs typeface="Georgia" pitchFamily="34" charset="-120"/>
              </a:rPr>
              <a:t>1</a:t>
            </a:r>
            <a:endParaRPr lang="en-US" sz="9600" dirty="0"/>
          </a:p>
        </p:txBody>
      </p:sp>
      <p:sp>
        <p:nvSpPr>
          <p:cNvPr id="15" name="Shape 13"/>
          <p:cNvSpPr/>
          <p:nvPr/>
        </p:nvSpPr>
        <p:spPr>
          <a:xfrm>
            <a:off x="9660636" y="4572000"/>
            <a:ext cx="731520" cy="0"/>
          </a:xfrm>
          <a:prstGeom prst="line">
            <a:avLst/>
          </a:prstGeom>
          <a:noFill/>
          <a:ln w="7620">
            <a:solidFill>
              <a:srgbClr val="8E7126"/>
            </a:solidFill>
            <a:prstDash val="solid"/>
          </a:ln>
        </p:spPr>
        <p:txBody>
          <a:bodyPr/>
          <a:lstStyle/>
          <a:p>
            <a:endParaRPr lang="ar-SA"/>
          </a:p>
        </p:txBody>
      </p:sp>
      <p:sp>
        <p:nvSpPr>
          <p:cNvPr id="16" name="Text 14"/>
          <p:cNvSpPr/>
          <p:nvPr/>
        </p:nvSpPr>
        <p:spPr>
          <a:xfrm>
            <a:off x="8449056" y="4709160"/>
            <a:ext cx="3154680" cy="502920"/>
          </a:xfrm>
          <a:prstGeom prst="rect">
            <a:avLst/>
          </a:prstGeom>
          <a:noFill/>
          <a:ln/>
        </p:spPr>
        <p:txBody>
          <a:bodyPr wrap="square" rtlCol="0" anchor="ctr"/>
          <a:lstStyle/>
          <a:p>
            <a:pPr marL="0" indent="0" algn="ctr" rtl="1">
              <a:buNone/>
            </a:pPr>
            <a:r>
              <a:rPr lang="en-US" sz="2000" b="1" dirty="0">
                <a:solidFill>
                  <a:srgbClr val="8E7126"/>
                </a:solidFill>
                <a:latin typeface="Sakkal Majalla" pitchFamily="34" charset="0"/>
                <a:ea typeface="Sakkal Majalla" pitchFamily="34" charset="-122"/>
                <a:cs typeface="Sakkal Majalla" pitchFamily="34" charset="-120"/>
              </a:rPr>
              <a:t>تَقييمُ المُكالَمات</a:t>
            </a:r>
            <a:endParaRPr lang="en-US" sz="2000" dirty="0"/>
          </a:p>
        </p:txBody>
      </p:sp>
      <p:sp>
        <p:nvSpPr>
          <p:cNvPr id="17" name="Text 15"/>
          <p:cNvSpPr/>
          <p:nvPr/>
        </p:nvSpPr>
        <p:spPr>
          <a:xfrm>
            <a:off x="8449056" y="5212080"/>
            <a:ext cx="3154680" cy="777240"/>
          </a:xfrm>
          <a:prstGeom prst="rect">
            <a:avLst/>
          </a:prstGeom>
          <a:noFill/>
          <a:ln/>
        </p:spPr>
        <p:txBody>
          <a:bodyPr wrap="square" rtlCol="0" anchor="ctr"/>
          <a:lstStyle/>
          <a:p>
            <a:pPr marL="0" indent="0" algn="r" rtl="1">
              <a:lnSpc>
                <a:spcPct val="150000"/>
              </a:lnSpc>
              <a:buNone/>
            </a:pPr>
            <a:r>
              <a:rPr lang="en-US" sz="1200" dirty="0">
                <a:solidFill>
                  <a:srgbClr val="4A3F1F"/>
                </a:solidFill>
                <a:latin typeface="Sakkal Majalla" pitchFamily="34" charset="0"/>
                <a:ea typeface="Sakkal Majalla" pitchFamily="34" charset="-122"/>
                <a:cs typeface="Sakkal Majalla" pitchFamily="34" charset="-120"/>
              </a:rPr>
              <a:t>نَستَمِعُ إلى المُكالَماتِ المُسَجَّلَة، وَنُقَيِّمُ أَداءَ كُلِّ مُمَثِّلٍ وَفقَ مَعاييرَ مَوضوعيَّة، وَنُشارِكُهُ المُلاحَظاتِ لِيَتَطَوَّر.</a:t>
            </a:r>
            <a:endParaRPr lang="en-US" sz="1200" dirty="0"/>
          </a:p>
        </p:txBody>
      </p:sp>
      <p:sp>
        <p:nvSpPr>
          <p:cNvPr id="18" name="Shape 16"/>
          <p:cNvSpPr/>
          <p:nvPr/>
        </p:nvSpPr>
        <p:spPr>
          <a:xfrm>
            <a:off x="4361688" y="2880360"/>
            <a:ext cx="3703320" cy="3108960"/>
          </a:xfrm>
          <a:prstGeom prst="rect">
            <a:avLst/>
          </a:prstGeom>
          <a:solidFill>
            <a:srgbClr val="F8F1DD"/>
          </a:solidFill>
          <a:ln/>
        </p:spPr>
        <p:txBody>
          <a:bodyPr/>
          <a:lstStyle/>
          <a:p>
            <a:endParaRPr lang="ar-SA"/>
          </a:p>
        </p:txBody>
      </p:sp>
      <p:sp>
        <p:nvSpPr>
          <p:cNvPr id="19" name="Text 17"/>
          <p:cNvSpPr/>
          <p:nvPr/>
        </p:nvSpPr>
        <p:spPr>
          <a:xfrm>
            <a:off x="4361688" y="3154680"/>
            <a:ext cx="3703320" cy="1371600"/>
          </a:xfrm>
          <a:prstGeom prst="rect">
            <a:avLst/>
          </a:prstGeom>
          <a:noFill/>
          <a:ln/>
        </p:spPr>
        <p:txBody>
          <a:bodyPr wrap="square" rtlCol="0" anchor="ctr"/>
          <a:lstStyle/>
          <a:p>
            <a:pPr marL="0" indent="0" algn="ctr">
              <a:buNone/>
            </a:pPr>
            <a:r>
              <a:rPr lang="en-US" sz="9600" i="1" dirty="0">
                <a:solidFill>
                  <a:srgbClr val="C9A84C"/>
                </a:solidFill>
                <a:latin typeface="Georgia" pitchFamily="34" charset="0"/>
                <a:ea typeface="Georgia" pitchFamily="34" charset="-122"/>
                <a:cs typeface="Georgia" pitchFamily="34" charset="-120"/>
              </a:rPr>
              <a:t>2</a:t>
            </a:r>
            <a:endParaRPr lang="en-US" sz="9600" dirty="0"/>
          </a:p>
        </p:txBody>
      </p:sp>
      <p:sp>
        <p:nvSpPr>
          <p:cNvPr id="20" name="Shape 18"/>
          <p:cNvSpPr/>
          <p:nvPr/>
        </p:nvSpPr>
        <p:spPr>
          <a:xfrm>
            <a:off x="5847588" y="4572000"/>
            <a:ext cx="731520" cy="0"/>
          </a:xfrm>
          <a:prstGeom prst="line">
            <a:avLst/>
          </a:prstGeom>
          <a:noFill/>
          <a:ln w="7620">
            <a:solidFill>
              <a:srgbClr val="8E7126"/>
            </a:solidFill>
            <a:prstDash val="solid"/>
          </a:ln>
        </p:spPr>
        <p:txBody>
          <a:bodyPr/>
          <a:lstStyle/>
          <a:p>
            <a:endParaRPr lang="ar-SA"/>
          </a:p>
        </p:txBody>
      </p:sp>
      <p:sp>
        <p:nvSpPr>
          <p:cNvPr id="21" name="Text 19"/>
          <p:cNvSpPr/>
          <p:nvPr/>
        </p:nvSpPr>
        <p:spPr>
          <a:xfrm>
            <a:off x="4636008" y="4709160"/>
            <a:ext cx="3154680" cy="502920"/>
          </a:xfrm>
          <a:prstGeom prst="rect">
            <a:avLst/>
          </a:prstGeom>
          <a:noFill/>
          <a:ln/>
        </p:spPr>
        <p:txBody>
          <a:bodyPr wrap="square" rtlCol="0" anchor="ctr"/>
          <a:lstStyle/>
          <a:p>
            <a:pPr marL="0" indent="0" algn="ctr" rtl="1">
              <a:buNone/>
            </a:pPr>
            <a:r>
              <a:rPr lang="en-US" sz="2000" b="1" dirty="0" err="1">
                <a:solidFill>
                  <a:srgbClr val="8E7126"/>
                </a:solidFill>
                <a:latin typeface="Sakkal Majalla" pitchFamily="34" charset="0"/>
                <a:ea typeface="Sakkal Majalla" pitchFamily="34" charset="-122"/>
                <a:cs typeface="Sakkal Majalla" pitchFamily="34" charset="-120"/>
              </a:rPr>
              <a:t>مُراقَبَةٌ</a:t>
            </a:r>
            <a:r>
              <a:rPr lang="en-US" sz="2000" b="1" dirty="0">
                <a:solidFill>
                  <a:srgbClr val="8E7126"/>
                </a:solidFill>
                <a:latin typeface="Sakkal Majalla" pitchFamily="34" charset="0"/>
                <a:ea typeface="Sakkal Majalla" pitchFamily="34" charset="-122"/>
                <a:cs typeface="Sakkal Majalla" pitchFamily="34" charset="-120"/>
              </a:rPr>
              <a:t> لَحظيَّة</a:t>
            </a:r>
            <a:endParaRPr lang="en-US" sz="2000" dirty="0"/>
          </a:p>
        </p:txBody>
      </p:sp>
      <p:sp>
        <p:nvSpPr>
          <p:cNvPr id="22" name="Text 20"/>
          <p:cNvSpPr/>
          <p:nvPr/>
        </p:nvSpPr>
        <p:spPr>
          <a:xfrm>
            <a:off x="4636008" y="5212080"/>
            <a:ext cx="3154680" cy="777240"/>
          </a:xfrm>
          <a:prstGeom prst="rect">
            <a:avLst/>
          </a:prstGeom>
          <a:noFill/>
          <a:ln/>
        </p:spPr>
        <p:txBody>
          <a:bodyPr wrap="square" rtlCol="0" anchor="ctr"/>
          <a:lstStyle/>
          <a:p>
            <a:pPr marL="0" indent="0" algn="r" rtl="1">
              <a:lnSpc>
                <a:spcPct val="150000"/>
              </a:lnSpc>
              <a:buNone/>
            </a:pPr>
            <a:r>
              <a:rPr lang="en-US" sz="1200" dirty="0">
                <a:solidFill>
                  <a:srgbClr val="4A3F1F"/>
                </a:solidFill>
                <a:latin typeface="Sakkal Majalla" pitchFamily="34" charset="0"/>
                <a:ea typeface="Sakkal Majalla" pitchFamily="34" charset="-122"/>
                <a:cs typeface="Sakkal Majalla" pitchFamily="34" charset="-120"/>
              </a:rPr>
              <a:t>نَتابِعُ المُكالَماتِ مُباشَرَةً عِندَ الحاجَة، وَنُقَدِّمُ توجيهاً فَوريّاً يَحفَظُ جَودَةَ التَّجرِبَةِ بِلا تَدَخُّلٍ مَلحوظ.</a:t>
            </a:r>
            <a:endParaRPr lang="en-US" sz="1200" dirty="0"/>
          </a:p>
        </p:txBody>
      </p:sp>
      <p:sp>
        <p:nvSpPr>
          <p:cNvPr id="23" name="Shape 21"/>
          <p:cNvSpPr/>
          <p:nvPr/>
        </p:nvSpPr>
        <p:spPr>
          <a:xfrm>
            <a:off x="548640" y="2880360"/>
            <a:ext cx="3703320" cy="3108960"/>
          </a:xfrm>
          <a:prstGeom prst="rect">
            <a:avLst/>
          </a:prstGeom>
          <a:solidFill>
            <a:srgbClr val="F8F1DD"/>
          </a:solidFill>
          <a:ln/>
        </p:spPr>
        <p:txBody>
          <a:bodyPr/>
          <a:lstStyle/>
          <a:p>
            <a:endParaRPr lang="ar-SA"/>
          </a:p>
        </p:txBody>
      </p:sp>
      <p:sp>
        <p:nvSpPr>
          <p:cNvPr id="24" name="Text 22"/>
          <p:cNvSpPr/>
          <p:nvPr/>
        </p:nvSpPr>
        <p:spPr>
          <a:xfrm>
            <a:off x="548640" y="3154680"/>
            <a:ext cx="3703320" cy="1371600"/>
          </a:xfrm>
          <a:prstGeom prst="rect">
            <a:avLst/>
          </a:prstGeom>
          <a:noFill/>
          <a:ln/>
        </p:spPr>
        <p:txBody>
          <a:bodyPr wrap="square" rtlCol="0" anchor="ctr"/>
          <a:lstStyle/>
          <a:p>
            <a:pPr marL="0" indent="0" algn="ctr">
              <a:buNone/>
            </a:pPr>
            <a:r>
              <a:rPr lang="en-US" sz="9600" i="1" dirty="0">
                <a:solidFill>
                  <a:srgbClr val="C9A84C"/>
                </a:solidFill>
                <a:latin typeface="Georgia" pitchFamily="34" charset="0"/>
                <a:ea typeface="Georgia" pitchFamily="34" charset="-122"/>
                <a:cs typeface="Georgia" pitchFamily="34" charset="-120"/>
              </a:rPr>
              <a:t>3</a:t>
            </a:r>
            <a:endParaRPr lang="en-US" sz="9600" dirty="0"/>
          </a:p>
        </p:txBody>
      </p:sp>
      <p:sp>
        <p:nvSpPr>
          <p:cNvPr id="25" name="Shape 23"/>
          <p:cNvSpPr/>
          <p:nvPr/>
        </p:nvSpPr>
        <p:spPr>
          <a:xfrm>
            <a:off x="2034540" y="4572000"/>
            <a:ext cx="731520" cy="0"/>
          </a:xfrm>
          <a:prstGeom prst="line">
            <a:avLst/>
          </a:prstGeom>
          <a:noFill/>
          <a:ln w="7620">
            <a:solidFill>
              <a:srgbClr val="8E7126"/>
            </a:solidFill>
            <a:prstDash val="solid"/>
          </a:ln>
        </p:spPr>
        <p:txBody>
          <a:bodyPr/>
          <a:lstStyle/>
          <a:p>
            <a:endParaRPr lang="ar-SA"/>
          </a:p>
        </p:txBody>
      </p:sp>
      <p:sp>
        <p:nvSpPr>
          <p:cNvPr id="26" name="Text 24"/>
          <p:cNvSpPr/>
          <p:nvPr/>
        </p:nvSpPr>
        <p:spPr>
          <a:xfrm>
            <a:off x="822960" y="4709160"/>
            <a:ext cx="3154680" cy="502920"/>
          </a:xfrm>
          <a:prstGeom prst="rect">
            <a:avLst/>
          </a:prstGeom>
          <a:noFill/>
          <a:ln/>
        </p:spPr>
        <p:txBody>
          <a:bodyPr wrap="square" rtlCol="0" anchor="ctr"/>
          <a:lstStyle/>
          <a:p>
            <a:pPr marL="0" indent="0" algn="ctr" rtl="1">
              <a:buNone/>
            </a:pPr>
            <a:r>
              <a:rPr lang="en-US" sz="2000" b="1" dirty="0">
                <a:solidFill>
                  <a:srgbClr val="8E7126"/>
                </a:solidFill>
                <a:latin typeface="Sakkal Majalla" pitchFamily="34" charset="0"/>
                <a:ea typeface="Sakkal Majalla" pitchFamily="34" charset="-122"/>
                <a:cs typeface="Sakkal Majalla" pitchFamily="34" charset="-120"/>
              </a:rPr>
              <a:t>اِستِطلاعاتُ ما بَعدَ المُكالَمَة</a:t>
            </a:r>
            <a:endParaRPr lang="en-US" sz="2000" dirty="0"/>
          </a:p>
        </p:txBody>
      </p:sp>
      <p:sp>
        <p:nvSpPr>
          <p:cNvPr id="27" name="Text 25"/>
          <p:cNvSpPr/>
          <p:nvPr/>
        </p:nvSpPr>
        <p:spPr>
          <a:xfrm>
            <a:off x="822960" y="5212080"/>
            <a:ext cx="3154680" cy="777240"/>
          </a:xfrm>
          <a:prstGeom prst="rect">
            <a:avLst/>
          </a:prstGeom>
          <a:noFill/>
          <a:ln/>
        </p:spPr>
        <p:txBody>
          <a:bodyPr wrap="square" rtlCol="0" anchor="ctr"/>
          <a:lstStyle/>
          <a:p>
            <a:pPr marL="0" indent="0" algn="r" rtl="1">
              <a:lnSpc>
                <a:spcPct val="150000"/>
              </a:lnSpc>
              <a:buNone/>
            </a:pPr>
            <a:r>
              <a:rPr lang="en-US" sz="1200" dirty="0">
                <a:solidFill>
                  <a:srgbClr val="4A3F1F"/>
                </a:solidFill>
                <a:latin typeface="Sakkal Majalla" pitchFamily="34" charset="0"/>
                <a:ea typeface="Sakkal Majalla" pitchFamily="34" charset="-122"/>
                <a:cs typeface="Sakkal Majalla" pitchFamily="34" charset="-120"/>
              </a:rPr>
              <a:t>نَسألُ العَميلَ مُباشَرَةً عَن شُعورِه، وَنُحَوِّلُ إجابَتَهُ إلى دَرسٍ يُحَسِّنُ المُكالَماتِ القادِمَة.</a:t>
            </a:r>
            <a:endParaRPr lang="en-US" sz="1200" dirty="0"/>
          </a:p>
        </p:txBody>
      </p:sp>
      <p:sp>
        <p:nvSpPr>
          <p:cNvPr id="28" name="Shape 26"/>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29" name="Text 27"/>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30" name="Text 28"/>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08  /  12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0" y="640080"/>
            <a:ext cx="6126480" cy="292608"/>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TECHNOLOGY</a:t>
            </a:r>
            <a:endParaRPr lang="en-US" sz="1000" dirty="0"/>
          </a:p>
        </p:txBody>
      </p:sp>
      <p:sp>
        <p:nvSpPr>
          <p:cNvPr id="10" name="Text 8"/>
          <p:cNvSpPr/>
          <p:nvPr/>
        </p:nvSpPr>
        <p:spPr>
          <a:xfrm>
            <a:off x="5486400" y="960120"/>
            <a:ext cx="6126480" cy="868680"/>
          </a:xfrm>
          <a:prstGeom prst="rect">
            <a:avLst/>
          </a:prstGeom>
          <a:noFill/>
          <a:ln/>
        </p:spPr>
        <p:txBody>
          <a:bodyPr wrap="square" rtlCol="0" anchor="t"/>
          <a:lstStyle/>
          <a:p>
            <a:pPr marL="0" indent="0" algn="r" rtl="1">
              <a:buNone/>
            </a:pPr>
            <a:r>
              <a:rPr lang="en-US" sz="4000" b="1" dirty="0">
                <a:solidFill>
                  <a:srgbClr val="8E7126"/>
                </a:solidFill>
                <a:latin typeface="Sakkal Majalla" pitchFamily="34" charset="0"/>
                <a:ea typeface="Sakkal Majalla" pitchFamily="34" charset="-122"/>
                <a:cs typeface="Sakkal Majalla" pitchFamily="34" charset="-120"/>
              </a:rPr>
              <a:t>البِنيَةُ التِّقَنيَّة</a:t>
            </a:r>
            <a:endParaRPr lang="en-US" sz="4000" dirty="0"/>
          </a:p>
        </p:txBody>
      </p:sp>
      <p:sp>
        <p:nvSpPr>
          <p:cNvPr id="11" name="Shape 9"/>
          <p:cNvSpPr/>
          <p:nvPr/>
        </p:nvSpPr>
        <p:spPr>
          <a:xfrm>
            <a:off x="11002975" y="182880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548640" y="2194560"/>
            <a:ext cx="11064240" cy="457200"/>
          </a:xfrm>
          <a:prstGeom prst="rect">
            <a:avLst/>
          </a:prstGeom>
          <a:noFill/>
          <a:ln/>
        </p:spPr>
        <p:txBody>
          <a:bodyPr wrap="square" rtlCol="0" anchor="ctr"/>
          <a:lstStyle/>
          <a:p>
            <a:pPr marL="0" indent="0" algn="r" rtl="1">
              <a:buNone/>
            </a:pPr>
            <a:r>
              <a:rPr lang="en-US" sz="1600" i="1" dirty="0">
                <a:solidFill>
                  <a:srgbClr val="6B5A2E"/>
                </a:solidFill>
                <a:latin typeface="Sakkal Majalla" pitchFamily="34" charset="0"/>
                <a:ea typeface="Sakkal Majalla" pitchFamily="34" charset="-122"/>
                <a:cs typeface="Sakkal Majalla" pitchFamily="34" charset="-120"/>
              </a:rPr>
              <a:t>تَقنيَّةٌ مَوثوقَةٌ تَخدِمُ الإنسانَ، لا تَستَبدِلُه.</a:t>
            </a:r>
            <a:endParaRPr lang="en-US" sz="1600" dirty="0"/>
          </a:p>
        </p:txBody>
      </p:sp>
      <p:sp>
        <p:nvSpPr>
          <p:cNvPr id="13" name="Shape 11"/>
          <p:cNvSpPr/>
          <p:nvPr/>
        </p:nvSpPr>
        <p:spPr>
          <a:xfrm>
            <a:off x="11567160" y="2971800"/>
            <a:ext cx="91440" cy="91440"/>
          </a:xfrm>
          <a:prstGeom prst="ellipse">
            <a:avLst/>
          </a:prstGeom>
          <a:solidFill>
            <a:srgbClr val="C9A84C"/>
          </a:solidFill>
          <a:ln/>
        </p:spPr>
        <p:txBody>
          <a:bodyPr/>
          <a:lstStyle/>
          <a:p>
            <a:endParaRPr lang="ar-SA"/>
          </a:p>
        </p:txBody>
      </p:sp>
      <p:sp>
        <p:nvSpPr>
          <p:cNvPr id="14" name="Text 12"/>
          <p:cNvSpPr/>
          <p:nvPr/>
        </p:nvSpPr>
        <p:spPr>
          <a:xfrm>
            <a:off x="6400800" y="2834640"/>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مَنَصَّةُ مَركَزِ اتِّصالٍ سَحابيَّة (Cloud Contact Center)</a:t>
            </a:r>
            <a:endParaRPr lang="en-US" sz="1300" dirty="0"/>
          </a:p>
        </p:txBody>
      </p:sp>
      <p:sp>
        <p:nvSpPr>
          <p:cNvPr id="15" name="Shape 13"/>
          <p:cNvSpPr/>
          <p:nvPr/>
        </p:nvSpPr>
        <p:spPr>
          <a:xfrm>
            <a:off x="5715000" y="2971800"/>
            <a:ext cx="91440" cy="91440"/>
          </a:xfrm>
          <a:prstGeom prst="ellipse">
            <a:avLst/>
          </a:prstGeom>
          <a:solidFill>
            <a:srgbClr val="C9A84C"/>
          </a:solidFill>
          <a:ln/>
        </p:spPr>
        <p:txBody>
          <a:bodyPr/>
          <a:lstStyle/>
          <a:p>
            <a:endParaRPr lang="ar-SA"/>
          </a:p>
        </p:txBody>
      </p:sp>
      <p:sp>
        <p:nvSpPr>
          <p:cNvPr id="16" name="Text 14"/>
          <p:cNvSpPr/>
          <p:nvPr/>
        </p:nvSpPr>
        <p:spPr>
          <a:xfrm>
            <a:off x="548640" y="2834640"/>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تَوزيعٌ آليٌّ لِلمُكالَمات (ACD)</a:t>
            </a:r>
            <a:endParaRPr lang="en-US" sz="1300" dirty="0"/>
          </a:p>
        </p:txBody>
      </p:sp>
      <p:sp>
        <p:nvSpPr>
          <p:cNvPr id="17" name="Shape 15"/>
          <p:cNvSpPr/>
          <p:nvPr/>
        </p:nvSpPr>
        <p:spPr>
          <a:xfrm>
            <a:off x="11567160" y="3355848"/>
            <a:ext cx="91440" cy="91440"/>
          </a:xfrm>
          <a:prstGeom prst="ellipse">
            <a:avLst/>
          </a:prstGeom>
          <a:solidFill>
            <a:srgbClr val="C9A84C"/>
          </a:solidFill>
          <a:ln/>
        </p:spPr>
        <p:txBody>
          <a:bodyPr/>
          <a:lstStyle/>
          <a:p>
            <a:endParaRPr lang="ar-SA"/>
          </a:p>
        </p:txBody>
      </p:sp>
      <p:sp>
        <p:nvSpPr>
          <p:cNvPr id="18" name="Text 16"/>
          <p:cNvSpPr/>
          <p:nvPr/>
        </p:nvSpPr>
        <p:spPr>
          <a:xfrm>
            <a:off x="6400800" y="3218688"/>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تَكامُلُ الهاتِفِ مع الحاسوب (CTI)</a:t>
            </a:r>
            <a:endParaRPr lang="en-US" sz="1300" dirty="0"/>
          </a:p>
        </p:txBody>
      </p:sp>
      <p:sp>
        <p:nvSpPr>
          <p:cNvPr id="19" name="Shape 17"/>
          <p:cNvSpPr/>
          <p:nvPr/>
        </p:nvSpPr>
        <p:spPr>
          <a:xfrm>
            <a:off x="5715000" y="3355848"/>
            <a:ext cx="91440" cy="91440"/>
          </a:xfrm>
          <a:prstGeom prst="ellipse">
            <a:avLst/>
          </a:prstGeom>
          <a:solidFill>
            <a:srgbClr val="C9A84C"/>
          </a:solidFill>
          <a:ln/>
        </p:spPr>
        <p:txBody>
          <a:bodyPr/>
          <a:lstStyle/>
          <a:p>
            <a:endParaRPr lang="ar-SA"/>
          </a:p>
        </p:txBody>
      </p:sp>
      <p:sp>
        <p:nvSpPr>
          <p:cNvPr id="20" name="Text 18"/>
          <p:cNvSpPr/>
          <p:nvPr/>
        </p:nvSpPr>
        <p:spPr>
          <a:xfrm>
            <a:off x="548640" y="3218688"/>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نِظامُ رَدٍّ صَوتيٍّ تَفاعُلِيٍّ ذَكِيّ (IVR)</a:t>
            </a:r>
            <a:endParaRPr lang="en-US" sz="1300" dirty="0"/>
          </a:p>
        </p:txBody>
      </p:sp>
      <p:sp>
        <p:nvSpPr>
          <p:cNvPr id="21" name="Shape 19"/>
          <p:cNvSpPr/>
          <p:nvPr/>
        </p:nvSpPr>
        <p:spPr>
          <a:xfrm>
            <a:off x="11567160" y="3739896"/>
            <a:ext cx="91440" cy="91440"/>
          </a:xfrm>
          <a:prstGeom prst="ellipse">
            <a:avLst/>
          </a:prstGeom>
          <a:solidFill>
            <a:srgbClr val="C9A84C"/>
          </a:solidFill>
          <a:ln/>
        </p:spPr>
        <p:txBody>
          <a:bodyPr/>
          <a:lstStyle/>
          <a:p>
            <a:endParaRPr lang="ar-SA"/>
          </a:p>
        </p:txBody>
      </p:sp>
      <p:sp>
        <p:nvSpPr>
          <p:cNvPr id="22" name="Text 20"/>
          <p:cNvSpPr/>
          <p:nvPr/>
        </p:nvSpPr>
        <p:spPr>
          <a:xfrm>
            <a:off x="6400800" y="3602736"/>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تَسجيلٌ كامِلٌ وَمُؤَمَّنٌ لِلمُكالَمات</a:t>
            </a:r>
            <a:endParaRPr lang="en-US" sz="1300" dirty="0"/>
          </a:p>
        </p:txBody>
      </p:sp>
      <p:sp>
        <p:nvSpPr>
          <p:cNvPr id="23" name="Shape 21"/>
          <p:cNvSpPr/>
          <p:nvPr/>
        </p:nvSpPr>
        <p:spPr>
          <a:xfrm>
            <a:off x="5715000" y="3739896"/>
            <a:ext cx="91440" cy="91440"/>
          </a:xfrm>
          <a:prstGeom prst="ellipse">
            <a:avLst/>
          </a:prstGeom>
          <a:solidFill>
            <a:srgbClr val="C9A84C"/>
          </a:solidFill>
          <a:ln/>
        </p:spPr>
        <p:txBody>
          <a:bodyPr/>
          <a:lstStyle/>
          <a:p>
            <a:endParaRPr lang="ar-SA"/>
          </a:p>
        </p:txBody>
      </p:sp>
      <p:sp>
        <p:nvSpPr>
          <p:cNvPr id="24" name="Text 22"/>
          <p:cNvSpPr/>
          <p:nvPr/>
        </p:nvSpPr>
        <p:spPr>
          <a:xfrm>
            <a:off x="548640" y="3602736"/>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لَوحاتُ تَحَكُّمٍ وَتَقاريرَ لَحظيَّة</a:t>
            </a:r>
            <a:endParaRPr lang="en-US" sz="1300" dirty="0"/>
          </a:p>
        </p:txBody>
      </p:sp>
      <p:sp>
        <p:nvSpPr>
          <p:cNvPr id="25" name="Shape 23"/>
          <p:cNvSpPr/>
          <p:nvPr/>
        </p:nvSpPr>
        <p:spPr>
          <a:xfrm>
            <a:off x="11567160" y="4123944"/>
            <a:ext cx="91440" cy="91440"/>
          </a:xfrm>
          <a:prstGeom prst="ellipse">
            <a:avLst/>
          </a:prstGeom>
          <a:solidFill>
            <a:srgbClr val="C9A84C"/>
          </a:solidFill>
          <a:ln/>
        </p:spPr>
        <p:txBody>
          <a:bodyPr/>
          <a:lstStyle/>
          <a:p>
            <a:endParaRPr lang="ar-SA"/>
          </a:p>
        </p:txBody>
      </p:sp>
      <p:sp>
        <p:nvSpPr>
          <p:cNvPr id="26" name="Text 24"/>
          <p:cNvSpPr/>
          <p:nvPr/>
        </p:nvSpPr>
        <p:spPr>
          <a:xfrm>
            <a:off x="6400800" y="3986784"/>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تَكامُلٌ مع أنظِمَةِ إدارَةِ العُملاء (CRM)</a:t>
            </a:r>
            <a:endParaRPr lang="en-US" sz="1300" dirty="0"/>
          </a:p>
        </p:txBody>
      </p:sp>
      <p:sp>
        <p:nvSpPr>
          <p:cNvPr id="27" name="Shape 25"/>
          <p:cNvSpPr/>
          <p:nvPr/>
        </p:nvSpPr>
        <p:spPr>
          <a:xfrm>
            <a:off x="5715000" y="4123944"/>
            <a:ext cx="91440" cy="91440"/>
          </a:xfrm>
          <a:prstGeom prst="ellipse">
            <a:avLst/>
          </a:prstGeom>
          <a:solidFill>
            <a:srgbClr val="C9A84C"/>
          </a:solidFill>
          <a:ln/>
        </p:spPr>
        <p:txBody>
          <a:bodyPr/>
          <a:lstStyle/>
          <a:p>
            <a:endParaRPr lang="ar-SA"/>
          </a:p>
        </p:txBody>
      </p:sp>
      <p:sp>
        <p:nvSpPr>
          <p:cNvPr id="28" name="Text 26"/>
          <p:cNvSpPr/>
          <p:nvPr/>
        </p:nvSpPr>
        <p:spPr>
          <a:xfrm>
            <a:off x="548640" y="3986784"/>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إدارَةُ القَوائمِ السَّوداءِ تِلقائيّاً</a:t>
            </a:r>
            <a:endParaRPr lang="en-US" sz="1300" dirty="0"/>
          </a:p>
        </p:txBody>
      </p:sp>
      <p:sp>
        <p:nvSpPr>
          <p:cNvPr id="29" name="Shape 27"/>
          <p:cNvSpPr/>
          <p:nvPr/>
        </p:nvSpPr>
        <p:spPr>
          <a:xfrm>
            <a:off x="11567160" y="4507992"/>
            <a:ext cx="91440" cy="91440"/>
          </a:xfrm>
          <a:prstGeom prst="ellipse">
            <a:avLst/>
          </a:prstGeom>
          <a:solidFill>
            <a:srgbClr val="C9A84C"/>
          </a:solidFill>
          <a:ln/>
        </p:spPr>
        <p:txBody>
          <a:bodyPr/>
          <a:lstStyle/>
          <a:p>
            <a:endParaRPr lang="ar-SA"/>
          </a:p>
        </p:txBody>
      </p:sp>
      <p:sp>
        <p:nvSpPr>
          <p:cNvPr id="30" name="Text 28"/>
          <p:cNvSpPr/>
          <p:nvPr/>
        </p:nvSpPr>
        <p:spPr>
          <a:xfrm>
            <a:off x="6400800" y="4370832"/>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اِستِطلاعاتٌ بَعدَ المُكالَمَة</a:t>
            </a:r>
            <a:endParaRPr lang="en-US" sz="1300" dirty="0"/>
          </a:p>
        </p:txBody>
      </p:sp>
      <p:sp>
        <p:nvSpPr>
          <p:cNvPr id="31" name="Shape 29"/>
          <p:cNvSpPr/>
          <p:nvPr/>
        </p:nvSpPr>
        <p:spPr>
          <a:xfrm>
            <a:off x="5715000" y="4507992"/>
            <a:ext cx="91440" cy="91440"/>
          </a:xfrm>
          <a:prstGeom prst="ellipse">
            <a:avLst/>
          </a:prstGeom>
          <a:solidFill>
            <a:srgbClr val="C9A84C"/>
          </a:solidFill>
          <a:ln/>
        </p:spPr>
        <p:txBody>
          <a:bodyPr/>
          <a:lstStyle/>
          <a:p>
            <a:endParaRPr lang="ar-SA"/>
          </a:p>
        </p:txBody>
      </p:sp>
      <p:sp>
        <p:nvSpPr>
          <p:cNvPr id="32" name="Text 30"/>
          <p:cNvSpPr/>
          <p:nvPr/>
        </p:nvSpPr>
        <p:spPr>
          <a:xfrm>
            <a:off x="548640" y="4370832"/>
            <a:ext cx="5074920" cy="365760"/>
          </a:xfrm>
          <a:prstGeom prst="rect">
            <a:avLst/>
          </a:prstGeom>
          <a:noFill/>
          <a:ln/>
        </p:spPr>
        <p:txBody>
          <a:bodyPr wrap="square" rtlCol="0" anchor="ctr"/>
          <a:lstStyle/>
          <a:p>
            <a:pPr marL="0" indent="0" algn="r" rtl="1">
              <a:buNone/>
            </a:pPr>
            <a:r>
              <a:rPr lang="en-US" sz="1300" dirty="0">
                <a:solidFill>
                  <a:srgbClr val="4A3F1F"/>
                </a:solidFill>
                <a:latin typeface="Sakkal Majalla" pitchFamily="34" charset="0"/>
                <a:ea typeface="Sakkal Majalla" pitchFamily="34" charset="-122"/>
                <a:cs typeface="Sakkal Majalla" pitchFamily="34" charset="-120"/>
              </a:rPr>
              <a:t>حُقولٌ مُخَصَّصَةٌ لِكُلِّ حَملَة</a:t>
            </a:r>
            <a:endParaRPr lang="en-US" sz="1300" dirty="0"/>
          </a:p>
        </p:txBody>
      </p:sp>
      <p:sp>
        <p:nvSpPr>
          <p:cNvPr id="33" name="Shape 31"/>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34" name="Text 32"/>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35" name="Text 33"/>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09  /  12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0" y="640080"/>
            <a:ext cx="6126480" cy="292608"/>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WHY US</a:t>
            </a:r>
            <a:endParaRPr lang="en-US" sz="1000" dirty="0"/>
          </a:p>
        </p:txBody>
      </p:sp>
      <p:sp>
        <p:nvSpPr>
          <p:cNvPr id="10" name="Text 8"/>
          <p:cNvSpPr/>
          <p:nvPr/>
        </p:nvSpPr>
        <p:spPr>
          <a:xfrm>
            <a:off x="5486400" y="960120"/>
            <a:ext cx="6126480" cy="868680"/>
          </a:xfrm>
          <a:prstGeom prst="rect">
            <a:avLst/>
          </a:prstGeom>
          <a:noFill/>
          <a:ln/>
        </p:spPr>
        <p:txBody>
          <a:bodyPr wrap="square" rtlCol="0" anchor="t"/>
          <a:lstStyle/>
          <a:p>
            <a:pPr marL="0" indent="0" algn="r" rtl="1">
              <a:buNone/>
            </a:pPr>
            <a:r>
              <a:rPr lang="en-US" sz="4000" b="1" dirty="0">
                <a:solidFill>
                  <a:srgbClr val="8E7126"/>
                </a:solidFill>
                <a:latin typeface="Sakkal Majalla" pitchFamily="34" charset="0"/>
                <a:ea typeface="Sakkal Majalla" pitchFamily="34" charset="-122"/>
                <a:cs typeface="Sakkal Majalla" pitchFamily="34" charset="-120"/>
              </a:rPr>
              <a:t>لِماذا عَبَقُ المَسار</a:t>
            </a:r>
            <a:endParaRPr lang="en-US" sz="4000" dirty="0"/>
          </a:p>
        </p:txBody>
      </p:sp>
      <p:sp>
        <p:nvSpPr>
          <p:cNvPr id="11" name="Shape 9"/>
          <p:cNvSpPr/>
          <p:nvPr/>
        </p:nvSpPr>
        <p:spPr>
          <a:xfrm>
            <a:off x="11002975" y="182880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548640" y="2468880"/>
            <a:ext cx="11064240" cy="457200"/>
          </a:xfrm>
          <a:prstGeom prst="rect">
            <a:avLst/>
          </a:prstGeom>
          <a:noFill/>
          <a:ln/>
        </p:spPr>
        <p:txBody>
          <a:bodyPr wrap="square" rtlCol="0" anchor="ctr"/>
          <a:lstStyle/>
          <a:p>
            <a:pPr marL="0" indent="0" algn="ctr" rtl="1">
              <a:buNone/>
            </a:pPr>
            <a:r>
              <a:rPr lang="en-US" sz="2200" i="1" dirty="0">
                <a:solidFill>
                  <a:srgbClr val="8E7126"/>
                </a:solidFill>
                <a:latin typeface="Sakkal Majalla" pitchFamily="34" charset="0"/>
                <a:ea typeface="Sakkal Majalla" pitchFamily="34" charset="-122"/>
                <a:cs typeface="Sakkal Majalla" pitchFamily="34" charset="-120"/>
              </a:rPr>
              <a:t>وَعدُنا لِلعَميل</a:t>
            </a:r>
            <a:endParaRPr lang="en-US" sz="2200" dirty="0"/>
          </a:p>
        </p:txBody>
      </p:sp>
      <p:sp>
        <p:nvSpPr>
          <p:cNvPr id="13" name="Text 11"/>
          <p:cNvSpPr/>
          <p:nvPr/>
        </p:nvSpPr>
        <p:spPr>
          <a:xfrm>
            <a:off x="1371600" y="3108960"/>
            <a:ext cx="9418320" cy="548640"/>
          </a:xfrm>
          <a:prstGeom prst="rect">
            <a:avLst/>
          </a:prstGeom>
          <a:noFill/>
          <a:ln/>
        </p:spPr>
        <p:txBody>
          <a:bodyPr wrap="square" rtlCol="0" anchor="ctr"/>
          <a:lstStyle/>
          <a:p>
            <a:pPr marL="0" indent="0" algn="ctr" rtl="1">
              <a:buNone/>
            </a:pPr>
            <a:r>
              <a:rPr lang="en-US" sz="2600" dirty="0">
                <a:solidFill>
                  <a:srgbClr val="4A3F1F"/>
                </a:solidFill>
                <a:latin typeface="Sakkal Majalla" pitchFamily="34" charset="0"/>
                <a:ea typeface="Sakkal Majalla" pitchFamily="34" charset="-122"/>
                <a:cs typeface="Sakkal Majalla" pitchFamily="34" charset="-120"/>
              </a:rPr>
              <a:t>في كلِّ مكالَمَةٍ نُجريها بِاسمِك،</a:t>
            </a:r>
            <a:endParaRPr lang="en-US" sz="2600" dirty="0"/>
          </a:p>
        </p:txBody>
      </p:sp>
      <p:sp>
        <p:nvSpPr>
          <p:cNvPr id="14" name="Text 12"/>
          <p:cNvSpPr/>
          <p:nvPr/>
        </p:nvSpPr>
        <p:spPr>
          <a:xfrm>
            <a:off x="914400" y="3657600"/>
            <a:ext cx="10332720" cy="548640"/>
          </a:xfrm>
          <a:prstGeom prst="rect">
            <a:avLst/>
          </a:prstGeom>
          <a:noFill/>
          <a:ln/>
        </p:spPr>
        <p:txBody>
          <a:bodyPr wrap="square" rtlCol="0" anchor="ctr"/>
          <a:lstStyle/>
          <a:p>
            <a:pPr marL="0" indent="0" algn="ctr" rtl="1">
              <a:buNone/>
            </a:pPr>
            <a:r>
              <a:rPr lang="en-US" sz="2600" b="1" dirty="0">
                <a:solidFill>
                  <a:srgbClr val="8E7126"/>
                </a:solidFill>
                <a:latin typeface="Sakkal Majalla" pitchFamily="34" charset="0"/>
                <a:ea typeface="Sakkal Majalla" pitchFamily="34" charset="-122"/>
                <a:cs typeface="Sakkal Majalla" pitchFamily="34" charset="-120"/>
              </a:rPr>
              <a:t>نَترُكُ خَلفَنا أَثَراً يَجعَلُ عَميلَكَ يَعودُ إليكَ مُختاراً، لا مُجبَراً.</a:t>
            </a:r>
            <a:endParaRPr lang="en-US" sz="2600" dirty="0"/>
          </a:p>
        </p:txBody>
      </p:sp>
      <p:sp>
        <p:nvSpPr>
          <p:cNvPr id="15" name="Text 13"/>
          <p:cNvSpPr/>
          <p:nvPr/>
        </p:nvSpPr>
        <p:spPr>
          <a:xfrm>
            <a:off x="0" y="4434840"/>
            <a:ext cx="12191695" cy="274320"/>
          </a:xfrm>
          <a:prstGeom prst="rect">
            <a:avLst/>
          </a:prstGeom>
          <a:noFill/>
          <a:ln/>
        </p:spPr>
        <p:txBody>
          <a:bodyPr wrap="square" rtlCol="0" anchor="ctr"/>
          <a:lstStyle/>
          <a:p>
            <a:pPr marL="0" indent="0" algn="ctr">
              <a:buNone/>
            </a:pPr>
            <a:r>
              <a:rPr lang="en-US" sz="1400" dirty="0">
                <a:solidFill>
                  <a:srgbClr val="C9A84C"/>
                </a:solidFill>
                <a:latin typeface="Georgia" pitchFamily="34" charset="0"/>
                <a:ea typeface="Georgia" pitchFamily="34" charset="-122"/>
                <a:cs typeface="Georgia" pitchFamily="34" charset="-120"/>
              </a:rPr>
              <a:t>◦  ◦  ◦</a:t>
            </a:r>
            <a:endParaRPr lang="en-US" sz="1400" dirty="0"/>
          </a:p>
        </p:txBody>
      </p:sp>
      <p:sp>
        <p:nvSpPr>
          <p:cNvPr id="16" name="Text 14"/>
          <p:cNvSpPr/>
          <p:nvPr/>
        </p:nvSpPr>
        <p:spPr>
          <a:xfrm>
            <a:off x="8174736" y="4937760"/>
            <a:ext cx="3703320" cy="274320"/>
          </a:xfrm>
          <a:prstGeom prst="rect">
            <a:avLst/>
          </a:prstGeom>
          <a:noFill/>
          <a:ln/>
        </p:spPr>
        <p:txBody>
          <a:bodyPr wrap="square" rtlCol="0" anchor="ctr"/>
          <a:lstStyle/>
          <a:p>
            <a:pPr marL="0" indent="0" algn="ctr">
              <a:buNone/>
            </a:pPr>
            <a:r>
              <a:rPr lang="en-US" sz="1000" i="1" kern="0" spc="800" dirty="0">
                <a:solidFill>
                  <a:srgbClr val="8E7126"/>
                </a:solidFill>
                <a:latin typeface="Georgia" pitchFamily="34" charset="0"/>
                <a:ea typeface="Georgia" pitchFamily="34" charset="-122"/>
                <a:cs typeface="Georgia" pitchFamily="34" charset="-120"/>
              </a:rPr>
              <a:t>AUTHENTICITY</a:t>
            </a:r>
            <a:endParaRPr lang="en-US" sz="1000" dirty="0"/>
          </a:p>
        </p:txBody>
      </p:sp>
      <p:sp>
        <p:nvSpPr>
          <p:cNvPr id="17" name="Text 15"/>
          <p:cNvSpPr/>
          <p:nvPr/>
        </p:nvSpPr>
        <p:spPr>
          <a:xfrm>
            <a:off x="8174736" y="5212080"/>
            <a:ext cx="3703320" cy="640080"/>
          </a:xfrm>
          <a:prstGeom prst="rect">
            <a:avLst/>
          </a:prstGeom>
          <a:noFill/>
          <a:ln/>
        </p:spPr>
        <p:txBody>
          <a:bodyPr wrap="square" rtlCol="0" anchor="ctr"/>
          <a:lstStyle/>
          <a:p>
            <a:pPr marL="0" indent="0" algn="ctr" rtl="1">
              <a:buNone/>
            </a:pPr>
            <a:r>
              <a:rPr lang="en-US" sz="3200" b="1" dirty="0">
                <a:solidFill>
                  <a:srgbClr val="8E7126"/>
                </a:solidFill>
                <a:latin typeface="Sakkal Majalla" pitchFamily="34" charset="0"/>
                <a:ea typeface="Sakkal Majalla" pitchFamily="34" charset="-122"/>
                <a:cs typeface="Sakkal Majalla" pitchFamily="34" charset="-120"/>
              </a:rPr>
              <a:t>صِدقٌ</a:t>
            </a:r>
            <a:endParaRPr lang="en-US" sz="3200" dirty="0"/>
          </a:p>
        </p:txBody>
      </p:sp>
      <p:sp>
        <p:nvSpPr>
          <p:cNvPr id="18" name="Text 16"/>
          <p:cNvSpPr/>
          <p:nvPr/>
        </p:nvSpPr>
        <p:spPr>
          <a:xfrm>
            <a:off x="4361688" y="4937760"/>
            <a:ext cx="3703320" cy="274320"/>
          </a:xfrm>
          <a:prstGeom prst="rect">
            <a:avLst/>
          </a:prstGeom>
          <a:noFill/>
          <a:ln/>
        </p:spPr>
        <p:txBody>
          <a:bodyPr wrap="square" rtlCol="0" anchor="ctr"/>
          <a:lstStyle/>
          <a:p>
            <a:pPr marL="0" indent="0" algn="ctr">
              <a:buNone/>
            </a:pPr>
            <a:r>
              <a:rPr lang="en-US" sz="1000" i="1" kern="0" spc="800" dirty="0">
                <a:solidFill>
                  <a:srgbClr val="8E7126"/>
                </a:solidFill>
                <a:latin typeface="Georgia" pitchFamily="34" charset="0"/>
                <a:ea typeface="Georgia" pitchFamily="34" charset="-122"/>
                <a:cs typeface="Georgia" pitchFamily="34" charset="-120"/>
              </a:rPr>
              <a:t>MASTERY</a:t>
            </a:r>
            <a:endParaRPr lang="en-US" sz="1000" dirty="0"/>
          </a:p>
        </p:txBody>
      </p:sp>
      <p:sp>
        <p:nvSpPr>
          <p:cNvPr id="19" name="Text 17"/>
          <p:cNvSpPr/>
          <p:nvPr/>
        </p:nvSpPr>
        <p:spPr>
          <a:xfrm>
            <a:off x="4361688" y="5212080"/>
            <a:ext cx="3703320" cy="640080"/>
          </a:xfrm>
          <a:prstGeom prst="rect">
            <a:avLst/>
          </a:prstGeom>
          <a:noFill/>
          <a:ln/>
        </p:spPr>
        <p:txBody>
          <a:bodyPr wrap="square" rtlCol="0" anchor="ctr"/>
          <a:lstStyle/>
          <a:p>
            <a:pPr marL="0" indent="0" algn="ctr" rtl="1">
              <a:buNone/>
            </a:pPr>
            <a:r>
              <a:rPr lang="en-US" sz="3200" b="1" dirty="0">
                <a:solidFill>
                  <a:srgbClr val="8E7126"/>
                </a:solidFill>
                <a:latin typeface="Sakkal Majalla" pitchFamily="34" charset="0"/>
                <a:ea typeface="Sakkal Majalla" pitchFamily="34" charset="-122"/>
                <a:cs typeface="Sakkal Majalla" pitchFamily="34" charset="-120"/>
              </a:rPr>
              <a:t>إِتقانٌ</a:t>
            </a:r>
            <a:endParaRPr lang="en-US" sz="3200" dirty="0"/>
          </a:p>
        </p:txBody>
      </p:sp>
      <p:sp>
        <p:nvSpPr>
          <p:cNvPr id="20" name="Text 18"/>
          <p:cNvSpPr/>
          <p:nvPr/>
        </p:nvSpPr>
        <p:spPr>
          <a:xfrm>
            <a:off x="548640" y="4937760"/>
            <a:ext cx="3703320" cy="274320"/>
          </a:xfrm>
          <a:prstGeom prst="rect">
            <a:avLst/>
          </a:prstGeom>
          <a:noFill/>
          <a:ln/>
        </p:spPr>
        <p:txBody>
          <a:bodyPr wrap="square" rtlCol="0" anchor="ctr"/>
          <a:lstStyle/>
          <a:p>
            <a:pPr marL="0" indent="0" algn="ctr">
              <a:buNone/>
            </a:pPr>
            <a:r>
              <a:rPr lang="en-US" sz="1000" i="1" kern="0" spc="800" dirty="0">
                <a:solidFill>
                  <a:srgbClr val="8E7126"/>
                </a:solidFill>
                <a:latin typeface="Georgia" pitchFamily="34" charset="0"/>
                <a:ea typeface="Georgia" pitchFamily="34" charset="-122"/>
                <a:cs typeface="Georgia" pitchFamily="34" charset="-120"/>
              </a:rPr>
              <a:t>IMPACT</a:t>
            </a:r>
            <a:endParaRPr lang="en-US" sz="1000" dirty="0"/>
          </a:p>
        </p:txBody>
      </p:sp>
      <p:sp>
        <p:nvSpPr>
          <p:cNvPr id="21" name="Text 19"/>
          <p:cNvSpPr/>
          <p:nvPr/>
        </p:nvSpPr>
        <p:spPr>
          <a:xfrm>
            <a:off x="548640" y="5212080"/>
            <a:ext cx="3703320" cy="640080"/>
          </a:xfrm>
          <a:prstGeom prst="rect">
            <a:avLst/>
          </a:prstGeom>
          <a:noFill/>
          <a:ln/>
        </p:spPr>
        <p:txBody>
          <a:bodyPr wrap="square" rtlCol="0" anchor="ctr"/>
          <a:lstStyle/>
          <a:p>
            <a:pPr marL="0" indent="0" algn="ctr" rtl="1">
              <a:buNone/>
            </a:pPr>
            <a:r>
              <a:rPr lang="en-US" sz="3200" b="1" dirty="0">
                <a:solidFill>
                  <a:srgbClr val="8E7126"/>
                </a:solidFill>
                <a:latin typeface="Sakkal Majalla" pitchFamily="34" charset="0"/>
                <a:ea typeface="Sakkal Majalla" pitchFamily="34" charset="-122"/>
                <a:cs typeface="Sakkal Majalla" pitchFamily="34" charset="-120"/>
              </a:rPr>
              <a:t>أَثَرٌ</a:t>
            </a:r>
            <a:endParaRPr lang="en-US" sz="3200" dirty="0"/>
          </a:p>
        </p:txBody>
      </p:sp>
      <p:sp>
        <p:nvSpPr>
          <p:cNvPr id="22" name="Shape 20"/>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23" name="Text 21"/>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24" name="Text 22"/>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10  /  12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9D2"/>
        </a:solidFill>
        <a:effectLst/>
      </p:bgPr>
    </p:bg>
    <p:spTree>
      <p:nvGrpSpPr>
        <p:cNvPr id="1" name=""/>
        <p:cNvGrpSpPr/>
        <p:nvPr/>
      </p:nvGrpSpPr>
      <p:grpSpPr>
        <a:xfrm>
          <a:off x="0" y="0"/>
          <a:ext cx="0" cy="0"/>
          <a:chOff x="0" y="0"/>
          <a:chExt cx="0" cy="0"/>
        </a:xfrm>
      </p:grpSpPr>
      <p:sp>
        <p:nvSpPr>
          <p:cNvPr id="2" name="Shape 0"/>
          <p:cNvSpPr/>
          <p:nvPr/>
        </p:nvSpPr>
        <p:spPr>
          <a:xfrm>
            <a:off x="11688775" y="320040"/>
            <a:ext cx="164592" cy="0"/>
          </a:xfrm>
          <a:prstGeom prst="line">
            <a:avLst/>
          </a:prstGeom>
          <a:noFill/>
          <a:ln w="9525">
            <a:solidFill>
              <a:srgbClr val="C9A84C"/>
            </a:solidFill>
            <a:prstDash val="solid"/>
          </a:ln>
        </p:spPr>
        <p:txBody>
          <a:bodyPr/>
          <a:lstStyle/>
          <a:p>
            <a:endParaRPr lang="ar-SA"/>
          </a:p>
        </p:txBody>
      </p:sp>
      <p:sp>
        <p:nvSpPr>
          <p:cNvPr id="3" name="Shape 1"/>
          <p:cNvSpPr/>
          <p:nvPr/>
        </p:nvSpPr>
        <p:spPr>
          <a:xfrm>
            <a:off x="11853367" y="320040"/>
            <a:ext cx="0" cy="164592"/>
          </a:xfrm>
          <a:prstGeom prst="line">
            <a:avLst/>
          </a:prstGeom>
          <a:noFill/>
          <a:ln w="9525">
            <a:solidFill>
              <a:srgbClr val="C9A84C"/>
            </a:solidFill>
            <a:prstDash val="solid"/>
          </a:ln>
        </p:spPr>
        <p:txBody>
          <a:bodyPr/>
          <a:lstStyle/>
          <a:p>
            <a:endParaRPr lang="ar-SA"/>
          </a:p>
        </p:txBody>
      </p:sp>
      <p:sp>
        <p:nvSpPr>
          <p:cNvPr id="4" name="Shape 2"/>
          <p:cNvSpPr/>
          <p:nvPr/>
        </p:nvSpPr>
        <p:spPr>
          <a:xfrm>
            <a:off x="338328" y="6537960"/>
            <a:ext cx="164592" cy="0"/>
          </a:xfrm>
          <a:prstGeom prst="line">
            <a:avLst/>
          </a:prstGeom>
          <a:noFill/>
          <a:ln w="9525">
            <a:solidFill>
              <a:srgbClr val="C9A84C"/>
            </a:solidFill>
            <a:prstDash val="solid"/>
          </a:ln>
        </p:spPr>
        <p:txBody>
          <a:bodyPr/>
          <a:lstStyle/>
          <a:p>
            <a:endParaRPr lang="ar-SA"/>
          </a:p>
        </p:txBody>
      </p:sp>
      <p:sp>
        <p:nvSpPr>
          <p:cNvPr id="5" name="Shape 3"/>
          <p:cNvSpPr/>
          <p:nvPr/>
        </p:nvSpPr>
        <p:spPr>
          <a:xfrm>
            <a:off x="338328" y="6373368"/>
            <a:ext cx="0" cy="164592"/>
          </a:xfrm>
          <a:prstGeom prst="line">
            <a:avLst/>
          </a:prstGeom>
          <a:noFill/>
          <a:ln w="9525">
            <a:solidFill>
              <a:srgbClr val="C9A84C"/>
            </a:solidFill>
            <a:prstDash val="solid"/>
          </a:ln>
        </p:spPr>
        <p:txBody>
          <a:bodyPr/>
          <a:lstStyle/>
          <a:p>
            <a:endParaRPr lang="ar-SA"/>
          </a:p>
        </p:txBody>
      </p:sp>
      <p:sp>
        <p:nvSpPr>
          <p:cNvPr id="6" name="Text 4"/>
          <p:cNvSpPr/>
          <p:nvPr/>
        </p:nvSpPr>
        <p:spPr>
          <a:xfrm>
            <a:off x="502920" y="411480"/>
            <a:ext cx="2011680" cy="411480"/>
          </a:xfrm>
          <a:prstGeom prst="rect">
            <a:avLst/>
          </a:prstGeom>
          <a:noFill/>
          <a:ln/>
        </p:spPr>
        <p:txBody>
          <a:bodyPr wrap="square" rtlCol="0" anchor="ctr"/>
          <a:lstStyle/>
          <a:p>
            <a:pPr marL="0" indent="0" algn="l" rtl="1">
              <a:buNone/>
            </a:pPr>
            <a:r>
              <a:rPr lang="en-US" sz="1800" b="1" dirty="0">
                <a:solidFill>
                  <a:srgbClr val="8E7126"/>
                </a:solidFill>
                <a:latin typeface="Sakkal Majalla" pitchFamily="34" charset="0"/>
                <a:ea typeface="Sakkal Majalla" pitchFamily="34" charset="-122"/>
                <a:cs typeface="Sakkal Majalla" pitchFamily="34" charset="-120"/>
              </a:rPr>
              <a:t>عَبَقُ المَسار</a:t>
            </a:r>
            <a:endParaRPr lang="en-US" sz="1800" dirty="0"/>
          </a:p>
        </p:txBody>
      </p:sp>
      <p:sp>
        <p:nvSpPr>
          <p:cNvPr id="7" name="Text 5"/>
          <p:cNvSpPr/>
          <p:nvPr/>
        </p:nvSpPr>
        <p:spPr>
          <a:xfrm>
            <a:off x="502920" y="786384"/>
            <a:ext cx="2011680" cy="228600"/>
          </a:xfrm>
          <a:prstGeom prst="rect">
            <a:avLst/>
          </a:prstGeom>
          <a:noFill/>
          <a:ln/>
        </p:spPr>
        <p:txBody>
          <a:bodyPr wrap="square" rtlCol="0" anchor="ctr"/>
          <a:lstStyle/>
          <a:p>
            <a:pPr marL="0" indent="0" algn="l">
              <a:buNone/>
            </a:pPr>
            <a:r>
              <a:rPr lang="en-US" sz="800" i="1" kern="0" spc="500" dirty="0">
                <a:solidFill>
                  <a:srgbClr val="C9A84C"/>
                </a:solidFill>
                <a:latin typeface="Georgia" pitchFamily="34" charset="0"/>
                <a:ea typeface="Georgia" pitchFamily="34" charset="-122"/>
                <a:cs typeface="Georgia" pitchFamily="34" charset="-120"/>
              </a:rPr>
              <a:t>ABQ AL-MASAR</a:t>
            </a:r>
            <a:endParaRPr lang="en-US" sz="800" dirty="0"/>
          </a:p>
        </p:txBody>
      </p:sp>
      <p:sp>
        <p:nvSpPr>
          <p:cNvPr id="8" name="Shape 6"/>
          <p:cNvSpPr/>
          <p:nvPr/>
        </p:nvSpPr>
        <p:spPr>
          <a:xfrm>
            <a:off x="502920" y="1060704"/>
            <a:ext cx="548640" cy="0"/>
          </a:xfrm>
          <a:prstGeom prst="line">
            <a:avLst/>
          </a:prstGeom>
          <a:noFill/>
          <a:ln w="7620">
            <a:solidFill>
              <a:srgbClr val="C9A84C"/>
            </a:solidFill>
            <a:prstDash val="solid"/>
          </a:ln>
        </p:spPr>
        <p:txBody>
          <a:bodyPr/>
          <a:lstStyle/>
          <a:p>
            <a:endParaRPr lang="ar-SA"/>
          </a:p>
        </p:txBody>
      </p:sp>
      <p:sp>
        <p:nvSpPr>
          <p:cNvPr id="9" name="Text 7"/>
          <p:cNvSpPr/>
          <p:nvPr/>
        </p:nvSpPr>
        <p:spPr>
          <a:xfrm>
            <a:off x="5486400" y="640080"/>
            <a:ext cx="6126480" cy="292608"/>
          </a:xfrm>
          <a:prstGeom prst="rect">
            <a:avLst/>
          </a:prstGeom>
          <a:noFill/>
          <a:ln/>
        </p:spPr>
        <p:txBody>
          <a:bodyPr wrap="square" rtlCol="0" anchor="ctr"/>
          <a:lstStyle/>
          <a:p>
            <a:pPr marL="0" indent="0" algn="r">
              <a:buNone/>
            </a:pPr>
            <a:r>
              <a:rPr lang="en-US" sz="1000" i="1" kern="0" spc="600" dirty="0">
                <a:solidFill>
                  <a:srgbClr val="8E7126"/>
                </a:solidFill>
                <a:latin typeface="Georgia" pitchFamily="34" charset="0"/>
                <a:ea typeface="Georgia" pitchFamily="34" charset="-122"/>
                <a:cs typeface="Georgia" pitchFamily="34" charset="-120"/>
              </a:rPr>
              <a:t>GET IN TOUCH</a:t>
            </a:r>
            <a:endParaRPr lang="en-US" sz="1000" dirty="0"/>
          </a:p>
        </p:txBody>
      </p:sp>
      <p:sp>
        <p:nvSpPr>
          <p:cNvPr id="10" name="Text 8"/>
          <p:cNvSpPr/>
          <p:nvPr/>
        </p:nvSpPr>
        <p:spPr>
          <a:xfrm>
            <a:off x="5486400" y="960120"/>
            <a:ext cx="6126480" cy="868680"/>
          </a:xfrm>
          <a:prstGeom prst="rect">
            <a:avLst/>
          </a:prstGeom>
          <a:noFill/>
          <a:ln/>
        </p:spPr>
        <p:txBody>
          <a:bodyPr wrap="square" rtlCol="0" anchor="t"/>
          <a:lstStyle/>
          <a:p>
            <a:pPr marL="0" indent="0" algn="r" rtl="1">
              <a:buNone/>
            </a:pPr>
            <a:r>
              <a:rPr lang="en-US" sz="4000" b="1" dirty="0">
                <a:solidFill>
                  <a:srgbClr val="8E7126"/>
                </a:solidFill>
                <a:latin typeface="Sakkal Majalla" pitchFamily="34" charset="0"/>
                <a:ea typeface="Sakkal Majalla" pitchFamily="34" charset="-122"/>
                <a:cs typeface="Sakkal Majalla" pitchFamily="34" charset="-120"/>
              </a:rPr>
              <a:t>تَواصَلْ مَعَنا</a:t>
            </a:r>
            <a:endParaRPr lang="en-US" sz="4000" dirty="0"/>
          </a:p>
        </p:txBody>
      </p:sp>
      <p:sp>
        <p:nvSpPr>
          <p:cNvPr id="11" name="Shape 9"/>
          <p:cNvSpPr/>
          <p:nvPr/>
        </p:nvSpPr>
        <p:spPr>
          <a:xfrm>
            <a:off x="11002975" y="1828800"/>
            <a:ext cx="640080" cy="0"/>
          </a:xfrm>
          <a:prstGeom prst="line">
            <a:avLst/>
          </a:prstGeom>
          <a:noFill/>
          <a:ln w="15240">
            <a:solidFill>
              <a:srgbClr val="C9A84C"/>
            </a:solidFill>
            <a:prstDash val="solid"/>
          </a:ln>
        </p:spPr>
        <p:txBody>
          <a:bodyPr/>
          <a:lstStyle/>
          <a:p>
            <a:endParaRPr lang="ar-SA"/>
          </a:p>
        </p:txBody>
      </p:sp>
      <p:sp>
        <p:nvSpPr>
          <p:cNvPr id="12" name="Text 10"/>
          <p:cNvSpPr/>
          <p:nvPr/>
        </p:nvSpPr>
        <p:spPr>
          <a:xfrm>
            <a:off x="548640" y="2194560"/>
            <a:ext cx="11064240" cy="457200"/>
          </a:xfrm>
          <a:prstGeom prst="rect">
            <a:avLst/>
          </a:prstGeom>
          <a:noFill/>
          <a:ln/>
        </p:spPr>
        <p:txBody>
          <a:bodyPr wrap="square" rtlCol="0" anchor="ctr"/>
          <a:lstStyle/>
          <a:p>
            <a:pPr marL="0" indent="0" algn="r" rtl="1">
              <a:buNone/>
            </a:pPr>
            <a:r>
              <a:rPr lang="en-US" sz="1600" i="1" dirty="0">
                <a:solidFill>
                  <a:srgbClr val="6B5A2E"/>
                </a:solidFill>
                <a:latin typeface="Sakkal Majalla" pitchFamily="34" charset="0"/>
                <a:ea typeface="Sakkal Majalla" pitchFamily="34" charset="-122"/>
                <a:cs typeface="Sakkal Majalla" pitchFamily="34" charset="-120"/>
              </a:rPr>
              <a:t>يَسعَدُنا أن نَستَمِعَ إليك، وَنَبني مَعاً قِصَّةَ تَواصُلٍ تَستَحِقُّ أن تُروى.</a:t>
            </a:r>
            <a:endParaRPr lang="en-US" sz="1600" dirty="0"/>
          </a:p>
        </p:txBody>
      </p:sp>
      <p:sp>
        <p:nvSpPr>
          <p:cNvPr id="13" name="Shape 11"/>
          <p:cNvSpPr/>
          <p:nvPr/>
        </p:nvSpPr>
        <p:spPr>
          <a:xfrm>
            <a:off x="1371600" y="2926080"/>
            <a:ext cx="9418320" cy="3291840"/>
          </a:xfrm>
          <a:prstGeom prst="rect">
            <a:avLst/>
          </a:prstGeom>
          <a:solidFill>
            <a:srgbClr val="F8F1DD"/>
          </a:solidFill>
          <a:ln/>
        </p:spPr>
        <p:txBody>
          <a:bodyPr/>
          <a:lstStyle/>
          <a:p>
            <a:endParaRPr lang="ar-SA"/>
          </a:p>
        </p:txBody>
      </p:sp>
      <p:sp>
        <p:nvSpPr>
          <p:cNvPr id="14" name="Shape 12"/>
          <p:cNvSpPr/>
          <p:nvPr/>
        </p:nvSpPr>
        <p:spPr>
          <a:xfrm>
            <a:off x="1371600" y="2926080"/>
            <a:ext cx="9418320" cy="73152"/>
          </a:xfrm>
          <a:prstGeom prst="rect">
            <a:avLst/>
          </a:prstGeom>
          <a:solidFill>
            <a:srgbClr val="C9A84C"/>
          </a:solidFill>
          <a:ln/>
        </p:spPr>
        <p:txBody>
          <a:bodyPr/>
          <a:lstStyle/>
          <a:p>
            <a:endParaRPr lang="ar-SA"/>
          </a:p>
        </p:txBody>
      </p:sp>
      <p:sp>
        <p:nvSpPr>
          <p:cNvPr id="15" name="Text 13"/>
          <p:cNvSpPr/>
          <p:nvPr/>
        </p:nvSpPr>
        <p:spPr>
          <a:xfrm>
            <a:off x="1828800" y="3383280"/>
            <a:ext cx="8503920" cy="640080"/>
          </a:xfrm>
          <a:prstGeom prst="rect">
            <a:avLst/>
          </a:prstGeom>
          <a:noFill/>
          <a:ln/>
        </p:spPr>
        <p:txBody>
          <a:bodyPr wrap="square" rtlCol="0" anchor="ctr"/>
          <a:lstStyle/>
          <a:p>
            <a:pPr marL="0" indent="0" algn="r" rtl="1">
              <a:buNone/>
            </a:pPr>
            <a:r>
              <a:rPr lang="en-US" sz="3200" b="1" dirty="0">
                <a:solidFill>
                  <a:srgbClr val="8E7126"/>
                </a:solidFill>
                <a:latin typeface="Sakkal Majalla" pitchFamily="34" charset="0"/>
                <a:ea typeface="Sakkal Majalla" pitchFamily="34" charset="-122"/>
                <a:cs typeface="Sakkal Majalla" pitchFamily="34" charset="-120"/>
              </a:rPr>
              <a:t>حَسّان عَبدُاللّٰه</a:t>
            </a:r>
            <a:endParaRPr lang="en-US" sz="3200" dirty="0"/>
          </a:p>
        </p:txBody>
      </p:sp>
      <p:sp>
        <p:nvSpPr>
          <p:cNvPr id="16" name="Text 14"/>
          <p:cNvSpPr/>
          <p:nvPr/>
        </p:nvSpPr>
        <p:spPr>
          <a:xfrm>
            <a:off x="1828800" y="4023360"/>
            <a:ext cx="8503920" cy="365760"/>
          </a:xfrm>
          <a:prstGeom prst="rect">
            <a:avLst/>
          </a:prstGeom>
          <a:noFill/>
          <a:ln/>
        </p:spPr>
        <p:txBody>
          <a:bodyPr wrap="square" rtlCol="0" anchor="ctr"/>
          <a:lstStyle/>
          <a:p>
            <a:pPr marL="0" indent="0" algn="r" rtl="1">
              <a:buNone/>
            </a:pPr>
            <a:r>
              <a:rPr lang="en-US" sz="1600" i="1" dirty="0">
                <a:solidFill>
                  <a:srgbClr val="6B5A2E"/>
                </a:solidFill>
                <a:latin typeface="Sakkal Majalla" pitchFamily="34" charset="0"/>
                <a:ea typeface="Sakkal Majalla" pitchFamily="34" charset="-122"/>
                <a:cs typeface="Sakkal Majalla" pitchFamily="34" charset="-120"/>
              </a:rPr>
              <a:t>مُديرُ التَّشغيل</a:t>
            </a:r>
            <a:endParaRPr lang="en-US" sz="1600" dirty="0"/>
          </a:p>
        </p:txBody>
      </p:sp>
      <p:sp>
        <p:nvSpPr>
          <p:cNvPr id="17" name="Shape 15"/>
          <p:cNvSpPr/>
          <p:nvPr/>
        </p:nvSpPr>
        <p:spPr>
          <a:xfrm>
            <a:off x="1828800" y="4617720"/>
            <a:ext cx="8503920" cy="0"/>
          </a:xfrm>
          <a:prstGeom prst="line">
            <a:avLst/>
          </a:prstGeom>
          <a:noFill/>
          <a:ln w="6350">
            <a:solidFill>
              <a:srgbClr val="C9A84C"/>
            </a:solidFill>
            <a:prstDash val="solid"/>
          </a:ln>
        </p:spPr>
        <p:txBody>
          <a:bodyPr/>
          <a:lstStyle/>
          <a:p>
            <a:endParaRPr lang="ar-SA"/>
          </a:p>
        </p:txBody>
      </p:sp>
      <p:sp>
        <p:nvSpPr>
          <p:cNvPr id="18" name="Text 16"/>
          <p:cNvSpPr/>
          <p:nvPr/>
        </p:nvSpPr>
        <p:spPr>
          <a:xfrm>
            <a:off x="6400800" y="4800600"/>
            <a:ext cx="3657600" cy="274320"/>
          </a:xfrm>
          <a:prstGeom prst="rect">
            <a:avLst/>
          </a:prstGeom>
          <a:noFill/>
          <a:ln/>
        </p:spPr>
        <p:txBody>
          <a:bodyPr wrap="square" rtlCol="0" anchor="ctr"/>
          <a:lstStyle/>
          <a:p>
            <a:pPr marL="0" indent="0" algn="r">
              <a:buNone/>
            </a:pPr>
            <a:r>
              <a:rPr lang="en-US" sz="900" i="1" kern="0" spc="400" dirty="0">
                <a:solidFill>
                  <a:srgbClr val="8E7126"/>
                </a:solidFill>
                <a:latin typeface="Georgia" pitchFamily="34" charset="0"/>
                <a:ea typeface="Georgia" pitchFamily="34" charset="-122"/>
                <a:cs typeface="Georgia" pitchFamily="34" charset="-120"/>
              </a:rPr>
              <a:t>PHONE</a:t>
            </a:r>
            <a:endParaRPr lang="en-US" sz="900" dirty="0"/>
          </a:p>
        </p:txBody>
      </p:sp>
      <p:sp>
        <p:nvSpPr>
          <p:cNvPr id="19" name="Text 17"/>
          <p:cNvSpPr/>
          <p:nvPr/>
        </p:nvSpPr>
        <p:spPr>
          <a:xfrm>
            <a:off x="6400800" y="5029200"/>
            <a:ext cx="3657600" cy="457200"/>
          </a:xfrm>
          <a:prstGeom prst="rect">
            <a:avLst/>
          </a:prstGeom>
          <a:noFill/>
          <a:ln/>
        </p:spPr>
        <p:txBody>
          <a:bodyPr wrap="square" rtlCol="0" anchor="ctr"/>
          <a:lstStyle/>
          <a:p>
            <a:pPr marL="0" indent="0" algn="r">
              <a:buNone/>
            </a:pPr>
            <a:r>
              <a:rPr lang="en-US" sz="2400" b="1" dirty="0">
                <a:solidFill>
                  <a:srgbClr val="4A3F1F"/>
                </a:solidFill>
                <a:latin typeface="Georgia" pitchFamily="34" charset="0"/>
                <a:ea typeface="Georgia" pitchFamily="34" charset="-122"/>
                <a:cs typeface="Georgia" pitchFamily="34" charset="-120"/>
              </a:rPr>
              <a:t>0509790930</a:t>
            </a:r>
            <a:endParaRPr lang="en-US" sz="2400" dirty="0"/>
          </a:p>
        </p:txBody>
      </p:sp>
      <p:sp>
        <p:nvSpPr>
          <p:cNvPr id="20" name="Text 18"/>
          <p:cNvSpPr/>
          <p:nvPr/>
        </p:nvSpPr>
        <p:spPr>
          <a:xfrm>
            <a:off x="1828800" y="4800600"/>
            <a:ext cx="3657600" cy="274320"/>
          </a:xfrm>
          <a:prstGeom prst="rect">
            <a:avLst/>
          </a:prstGeom>
          <a:noFill/>
          <a:ln/>
        </p:spPr>
        <p:txBody>
          <a:bodyPr wrap="square" rtlCol="0" anchor="ctr"/>
          <a:lstStyle/>
          <a:p>
            <a:pPr marL="0" indent="0" algn="r">
              <a:buNone/>
            </a:pPr>
            <a:r>
              <a:rPr lang="en-US" sz="900" i="1" kern="0" spc="400" dirty="0">
                <a:solidFill>
                  <a:srgbClr val="8E7126"/>
                </a:solidFill>
                <a:latin typeface="Georgia" pitchFamily="34" charset="0"/>
                <a:ea typeface="Georgia" pitchFamily="34" charset="-122"/>
                <a:cs typeface="Georgia" pitchFamily="34" charset="-120"/>
              </a:rPr>
              <a:t>LOCATION</a:t>
            </a:r>
            <a:endParaRPr lang="en-US" sz="900" dirty="0"/>
          </a:p>
        </p:txBody>
      </p:sp>
      <p:sp>
        <p:nvSpPr>
          <p:cNvPr id="21" name="Text 19"/>
          <p:cNvSpPr/>
          <p:nvPr/>
        </p:nvSpPr>
        <p:spPr>
          <a:xfrm>
            <a:off x="1828800" y="5029200"/>
            <a:ext cx="3657600" cy="457200"/>
          </a:xfrm>
          <a:prstGeom prst="rect">
            <a:avLst/>
          </a:prstGeom>
          <a:noFill/>
          <a:ln/>
        </p:spPr>
        <p:txBody>
          <a:bodyPr wrap="square" rtlCol="0" anchor="ctr"/>
          <a:lstStyle/>
          <a:p>
            <a:pPr marL="0" indent="0" algn="r" rtl="1">
              <a:buNone/>
            </a:pPr>
            <a:r>
              <a:rPr lang="en-US" sz="2200" b="1" dirty="0">
                <a:solidFill>
                  <a:srgbClr val="4A3F1F"/>
                </a:solidFill>
                <a:latin typeface="Sakkal Majalla" pitchFamily="34" charset="0"/>
                <a:ea typeface="Sakkal Majalla" pitchFamily="34" charset="-122"/>
                <a:cs typeface="Sakkal Majalla" pitchFamily="34" charset="-120"/>
              </a:rPr>
              <a:t>الرّياض  ·  المَلَز</a:t>
            </a:r>
            <a:endParaRPr lang="en-US" sz="2200" dirty="0"/>
          </a:p>
        </p:txBody>
      </p:sp>
      <p:sp>
        <p:nvSpPr>
          <p:cNvPr id="22" name="Shape 20"/>
          <p:cNvSpPr/>
          <p:nvPr/>
        </p:nvSpPr>
        <p:spPr>
          <a:xfrm>
            <a:off x="1828800" y="5577840"/>
            <a:ext cx="8503920" cy="0"/>
          </a:xfrm>
          <a:prstGeom prst="line">
            <a:avLst/>
          </a:prstGeom>
          <a:noFill/>
          <a:ln w="5080">
            <a:solidFill>
              <a:srgbClr val="E8DCBB"/>
            </a:solidFill>
            <a:prstDash val="solid"/>
          </a:ln>
        </p:spPr>
        <p:txBody>
          <a:bodyPr/>
          <a:lstStyle/>
          <a:p>
            <a:endParaRPr lang="ar-SA"/>
          </a:p>
        </p:txBody>
      </p:sp>
      <p:sp>
        <p:nvSpPr>
          <p:cNvPr id="23" name="Text 21"/>
          <p:cNvSpPr/>
          <p:nvPr/>
        </p:nvSpPr>
        <p:spPr>
          <a:xfrm>
            <a:off x="1371600" y="5715000"/>
            <a:ext cx="9418320" cy="320040"/>
          </a:xfrm>
          <a:prstGeom prst="rect">
            <a:avLst/>
          </a:prstGeom>
          <a:noFill/>
          <a:ln/>
        </p:spPr>
        <p:txBody>
          <a:bodyPr wrap="square" rtlCol="0" anchor="ctr"/>
          <a:lstStyle/>
          <a:p>
            <a:pPr marL="0" indent="0" algn="ctr">
              <a:buNone/>
            </a:pPr>
            <a:r>
              <a:rPr lang="en-US" sz="1100" i="1" kern="0" spc="800" dirty="0">
                <a:solidFill>
                  <a:srgbClr val="8E7126"/>
                </a:solidFill>
                <a:latin typeface="Georgia" pitchFamily="34" charset="0"/>
                <a:ea typeface="Georgia" pitchFamily="34" charset="-122"/>
                <a:cs typeface="Georgia" pitchFamily="34" charset="-120"/>
              </a:rPr>
              <a:t>ABQ  AL-MASAR</a:t>
            </a:r>
            <a:endParaRPr lang="en-US" sz="1100" dirty="0"/>
          </a:p>
        </p:txBody>
      </p:sp>
      <p:sp>
        <p:nvSpPr>
          <p:cNvPr id="24" name="Shape 22"/>
          <p:cNvSpPr/>
          <p:nvPr/>
        </p:nvSpPr>
        <p:spPr>
          <a:xfrm>
            <a:off x="548640" y="6355080"/>
            <a:ext cx="1371600" cy="0"/>
          </a:xfrm>
          <a:prstGeom prst="line">
            <a:avLst/>
          </a:prstGeom>
          <a:noFill/>
          <a:ln w="6350">
            <a:solidFill>
              <a:srgbClr val="C9A84C"/>
            </a:solidFill>
            <a:prstDash val="solid"/>
          </a:ln>
        </p:spPr>
        <p:txBody>
          <a:bodyPr/>
          <a:lstStyle/>
          <a:p>
            <a:endParaRPr lang="ar-SA"/>
          </a:p>
        </p:txBody>
      </p:sp>
      <p:sp>
        <p:nvSpPr>
          <p:cNvPr id="25" name="Text 23"/>
          <p:cNvSpPr/>
          <p:nvPr/>
        </p:nvSpPr>
        <p:spPr>
          <a:xfrm>
            <a:off x="548640" y="6473952"/>
            <a:ext cx="2743200" cy="228600"/>
          </a:xfrm>
          <a:prstGeom prst="rect">
            <a:avLst/>
          </a:prstGeom>
          <a:noFill/>
          <a:ln/>
        </p:spPr>
        <p:txBody>
          <a:bodyPr wrap="square" rtlCol="0" anchor="ctr"/>
          <a:lstStyle/>
          <a:p>
            <a:pPr marL="0" indent="0">
              <a:buNone/>
            </a:pPr>
            <a:r>
              <a:rPr lang="en-US" sz="800" i="1" kern="0" spc="500" dirty="0">
                <a:solidFill>
                  <a:srgbClr val="8E7126"/>
                </a:solidFill>
                <a:latin typeface="Georgia" pitchFamily="34" charset="0"/>
                <a:ea typeface="Georgia" pitchFamily="34" charset="-122"/>
                <a:cs typeface="Georgia" pitchFamily="34" charset="-120"/>
              </a:rPr>
              <a:t>ABQ AL-MASAR</a:t>
            </a:r>
            <a:endParaRPr lang="en-US" sz="800" dirty="0"/>
          </a:p>
        </p:txBody>
      </p:sp>
      <p:sp>
        <p:nvSpPr>
          <p:cNvPr id="26" name="Text 24"/>
          <p:cNvSpPr/>
          <p:nvPr/>
        </p:nvSpPr>
        <p:spPr>
          <a:xfrm>
            <a:off x="10362895" y="6473952"/>
            <a:ext cx="1280160" cy="228600"/>
          </a:xfrm>
          <a:prstGeom prst="rect">
            <a:avLst/>
          </a:prstGeom>
          <a:noFill/>
          <a:ln/>
        </p:spPr>
        <p:txBody>
          <a:bodyPr wrap="square" rtlCol="0" anchor="ctr"/>
          <a:lstStyle/>
          <a:p>
            <a:pPr marL="0" indent="0" algn="r">
              <a:buNone/>
            </a:pPr>
            <a:r>
              <a:rPr lang="en-US" sz="800" i="1" kern="0" spc="300" dirty="0">
                <a:solidFill>
                  <a:srgbClr val="8E7126"/>
                </a:solidFill>
                <a:latin typeface="Georgia" pitchFamily="34" charset="0"/>
                <a:ea typeface="Georgia" pitchFamily="34" charset="-122"/>
                <a:cs typeface="Georgia" pitchFamily="34" charset="-120"/>
              </a:rPr>
              <a:t>11  /  12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E14"/>
        </a:solidFill>
        <a:effectLst/>
      </p:bgPr>
    </p:bg>
    <p:spTree>
      <p:nvGrpSpPr>
        <p:cNvPr id="1" name=""/>
        <p:cNvGrpSpPr/>
        <p:nvPr/>
      </p:nvGrpSpPr>
      <p:grpSpPr>
        <a:xfrm>
          <a:off x="0" y="0"/>
          <a:ext cx="0" cy="0"/>
          <a:chOff x="0" y="0"/>
          <a:chExt cx="0" cy="0"/>
        </a:xfrm>
      </p:grpSpPr>
      <p:sp>
        <p:nvSpPr>
          <p:cNvPr id="2" name="Shape 0"/>
          <p:cNvSpPr/>
          <p:nvPr/>
        </p:nvSpPr>
        <p:spPr>
          <a:xfrm>
            <a:off x="640080" y="502920"/>
            <a:ext cx="10911535" cy="0"/>
          </a:xfrm>
          <a:prstGeom prst="line">
            <a:avLst/>
          </a:prstGeom>
          <a:noFill/>
          <a:ln w="6350">
            <a:solidFill>
              <a:srgbClr val="C9A84C"/>
            </a:solidFill>
            <a:prstDash val="solid"/>
          </a:ln>
        </p:spPr>
        <p:txBody>
          <a:bodyPr/>
          <a:lstStyle/>
          <a:p>
            <a:endParaRPr lang="ar-SA"/>
          </a:p>
        </p:txBody>
      </p:sp>
      <p:sp>
        <p:nvSpPr>
          <p:cNvPr id="3" name="Shape 1"/>
          <p:cNvSpPr/>
          <p:nvPr/>
        </p:nvSpPr>
        <p:spPr>
          <a:xfrm>
            <a:off x="640080" y="6355080"/>
            <a:ext cx="10911535" cy="0"/>
          </a:xfrm>
          <a:prstGeom prst="line">
            <a:avLst/>
          </a:prstGeom>
          <a:noFill/>
          <a:ln w="6350">
            <a:solidFill>
              <a:srgbClr val="C9A84C"/>
            </a:solidFill>
            <a:prstDash val="solid"/>
          </a:ln>
        </p:spPr>
        <p:txBody>
          <a:bodyPr/>
          <a:lstStyle/>
          <a:p>
            <a:endParaRPr lang="ar-SA"/>
          </a:p>
        </p:txBody>
      </p:sp>
      <p:pic>
        <p:nvPicPr>
          <p:cNvPr id="4" name="Image 0" descr="/home/claude/profile/logo_transparent.png"/>
          <p:cNvPicPr>
            <a:picLocks noChangeAspect="1"/>
          </p:cNvPicPr>
          <p:nvPr/>
        </p:nvPicPr>
        <p:blipFill>
          <a:blip r:embed="rId3"/>
          <a:stretch>
            <a:fillRect/>
          </a:stretch>
        </p:blipFill>
        <p:spPr>
          <a:xfrm>
            <a:off x="4815688" y="1828800"/>
            <a:ext cx="2560320" cy="1810512"/>
          </a:xfrm>
          <a:prstGeom prst="rect">
            <a:avLst/>
          </a:prstGeom>
        </p:spPr>
      </p:pic>
      <p:sp>
        <p:nvSpPr>
          <p:cNvPr id="5" name="Text 2"/>
          <p:cNvSpPr/>
          <p:nvPr/>
        </p:nvSpPr>
        <p:spPr>
          <a:xfrm>
            <a:off x="0" y="4023360"/>
            <a:ext cx="12191695" cy="640080"/>
          </a:xfrm>
          <a:prstGeom prst="rect">
            <a:avLst/>
          </a:prstGeom>
          <a:noFill/>
          <a:ln/>
        </p:spPr>
        <p:txBody>
          <a:bodyPr wrap="square" rtlCol="0" anchor="ctr"/>
          <a:lstStyle/>
          <a:p>
            <a:pPr marL="0" indent="0" algn="ctr" rtl="1">
              <a:buNone/>
            </a:pPr>
            <a:r>
              <a:rPr lang="en-US" sz="3600" b="1" dirty="0">
                <a:solidFill>
                  <a:srgbClr val="F4EAD0"/>
                </a:solidFill>
                <a:latin typeface="Sakkal Majalla" pitchFamily="34" charset="0"/>
                <a:ea typeface="Sakkal Majalla" pitchFamily="34" charset="-122"/>
                <a:cs typeface="Sakkal Majalla" pitchFamily="34" charset="-120"/>
              </a:rPr>
              <a:t>شُكراً لِوَقتِك</a:t>
            </a:r>
            <a:endParaRPr lang="en-US" sz="3600" dirty="0"/>
          </a:p>
        </p:txBody>
      </p:sp>
      <p:sp>
        <p:nvSpPr>
          <p:cNvPr id="6" name="Text 3"/>
          <p:cNvSpPr/>
          <p:nvPr/>
        </p:nvSpPr>
        <p:spPr>
          <a:xfrm>
            <a:off x="0" y="4709160"/>
            <a:ext cx="12191695" cy="274320"/>
          </a:xfrm>
          <a:prstGeom prst="rect">
            <a:avLst/>
          </a:prstGeom>
          <a:noFill/>
          <a:ln/>
        </p:spPr>
        <p:txBody>
          <a:bodyPr wrap="square" rtlCol="0" anchor="ctr"/>
          <a:lstStyle/>
          <a:p>
            <a:pPr marL="0" indent="0" algn="ctr">
              <a:buNone/>
            </a:pPr>
            <a:r>
              <a:rPr lang="en-US" sz="1100" i="1" kern="0" spc="1200" dirty="0">
                <a:solidFill>
                  <a:srgbClr val="C9A84C"/>
                </a:solidFill>
                <a:latin typeface="Georgia" pitchFamily="34" charset="0"/>
                <a:ea typeface="Georgia" pitchFamily="34" charset="-122"/>
                <a:cs typeface="Georgia" pitchFamily="34" charset="-120"/>
              </a:rPr>
              <a:t>THANK YOU</a:t>
            </a:r>
            <a:endParaRPr lang="en-US" sz="1100" dirty="0"/>
          </a:p>
        </p:txBody>
      </p:sp>
      <p:sp>
        <p:nvSpPr>
          <p:cNvPr id="7" name="Text 4"/>
          <p:cNvSpPr/>
          <p:nvPr/>
        </p:nvSpPr>
        <p:spPr>
          <a:xfrm>
            <a:off x="0" y="5120640"/>
            <a:ext cx="12191695" cy="274320"/>
          </a:xfrm>
          <a:prstGeom prst="rect">
            <a:avLst/>
          </a:prstGeom>
          <a:noFill/>
          <a:ln/>
        </p:spPr>
        <p:txBody>
          <a:bodyPr wrap="square" rtlCol="0" anchor="ctr"/>
          <a:lstStyle/>
          <a:p>
            <a:pPr marL="0" indent="0" algn="ctr">
              <a:buNone/>
            </a:pPr>
            <a:r>
              <a:rPr lang="en-US" sz="1400" dirty="0">
                <a:solidFill>
                  <a:srgbClr val="C9A84C"/>
                </a:solidFill>
                <a:latin typeface="Georgia" pitchFamily="34" charset="0"/>
                <a:ea typeface="Georgia" pitchFamily="34" charset="-122"/>
                <a:cs typeface="Georgia" pitchFamily="34" charset="-120"/>
              </a:rPr>
              <a:t>◦  ◦  ◦</a:t>
            </a:r>
            <a:endParaRPr lang="en-US" sz="1400" dirty="0"/>
          </a:p>
        </p:txBody>
      </p:sp>
      <p:sp>
        <p:nvSpPr>
          <p:cNvPr id="8" name="Text 5"/>
          <p:cNvSpPr/>
          <p:nvPr/>
        </p:nvSpPr>
        <p:spPr>
          <a:xfrm>
            <a:off x="0" y="5486400"/>
            <a:ext cx="12191695" cy="457200"/>
          </a:xfrm>
          <a:prstGeom prst="rect">
            <a:avLst/>
          </a:prstGeom>
          <a:noFill/>
          <a:ln/>
        </p:spPr>
        <p:txBody>
          <a:bodyPr wrap="square" rtlCol="0" anchor="ctr"/>
          <a:lstStyle/>
          <a:p>
            <a:pPr marL="0" indent="0" algn="ctr" rtl="1">
              <a:buNone/>
            </a:pPr>
            <a:r>
              <a:rPr lang="en-US" sz="1800" i="1" dirty="0">
                <a:solidFill>
                  <a:srgbClr val="DCC890"/>
                </a:solidFill>
                <a:latin typeface="Sakkal Majalla" pitchFamily="34" charset="0"/>
                <a:ea typeface="Sakkal Majalla" pitchFamily="34" charset="-122"/>
                <a:cs typeface="Sakkal Majalla" pitchFamily="34" charset="-120"/>
              </a:rPr>
              <a:t>الصَّوتُ يَنتَهي  ·  وَالأَثَرُ يَبقى</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802</Words>
  <Application>Microsoft Office PowerPoint</Application>
  <PresentationFormat>شاشة عريضة</PresentationFormat>
  <Paragraphs>188</Paragraphs>
  <Slides>12</Slides>
  <Notes>12</Notes>
  <HiddenSlides>0</HiddenSlides>
  <MMClips>0</MMClips>
  <ScaleCrop>false</ScaleCrop>
  <HeadingPairs>
    <vt:vector size="6" baseType="variant">
      <vt:variant>
        <vt:lpstr>الخطوط المستخدمة</vt:lpstr>
      </vt:variant>
      <vt:variant>
        <vt:i4>3</vt:i4>
      </vt:variant>
      <vt:variant>
        <vt:lpstr>نسق</vt:lpstr>
      </vt:variant>
      <vt:variant>
        <vt:i4>1</vt:i4>
      </vt:variant>
      <vt:variant>
        <vt:lpstr>عناوين الشرائح</vt:lpstr>
      </vt:variant>
      <vt:variant>
        <vt:i4>12</vt:i4>
      </vt:variant>
    </vt:vector>
  </HeadingPairs>
  <TitlesOfParts>
    <vt:vector size="16" baseType="lpstr">
      <vt:lpstr>Arial</vt:lpstr>
      <vt:lpstr>Georgia</vt:lpstr>
      <vt:lpstr>Sakkal Majalla</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عبق المسار - الملف التعريفي</dc:title>
  <dc:subject>PptxGenJS Presentation</dc:subject>
  <dc:creator>عبق المسار</dc:creator>
  <cp:lastModifiedBy>Hassan Abdallah</cp:lastModifiedBy>
  <cp:revision>2</cp:revision>
  <dcterms:created xsi:type="dcterms:W3CDTF">2026-05-03T09:46:31Z</dcterms:created>
  <dcterms:modified xsi:type="dcterms:W3CDTF">2026-05-03T11:25:05Z</dcterms:modified>
</cp:coreProperties>
</file>